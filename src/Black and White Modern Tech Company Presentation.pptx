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Impact" charset="1" panose="020B0806030902050204"/>
      <p:regular r:id="rId19"/>
    </p:embeddedFont>
    <p:embeddedFont>
      <p:font typeface="Poppins" charset="1" panose="00000500000000000000"/>
      <p:regular r:id="rId20"/>
    </p:embeddedFont>
    <p:embeddedFont>
      <p:font typeface="Poppins Italics" charset="1" panose="00000500000000000000"/>
      <p:regular r:id="rId21"/>
    </p:embeddedFont>
    <p:embeddedFont>
      <p:font typeface="Open Sans" charset="1" panose="020B0606030504020204"/>
      <p:regular r:id="rId22"/>
    </p:embeddedFont>
    <p:embeddedFont>
      <p:font typeface="Poppins Bold" charset="1" panose="00000800000000000000"/>
      <p:regular r:id="rId23"/>
    </p:embeddedFont>
    <p:embeddedFont>
      <p:font typeface="Poppins Medium" charset="1" panose="00000600000000000000"/>
      <p:regular r:id="rId24"/>
    </p:embeddedFont>
    <p:embeddedFont>
      <p:font typeface="Anton" charset="1" panose="000005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27.png" Type="http://schemas.openxmlformats.org/officeDocument/2006/relationships/image"/><Relationship Id="rId7" Target="../media/image2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29.png" Type="http://schemas.openxmlformats.org/officeDocument/2006/relationships/image"/><Relationship Id="rId9" Target="../media/image30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1.png" Type="http://schemas.openxmlformats.org/officeDocument/2006/relationships/image"/><Relationship Id="rId5" Target="../media/image32.svg" Type="http://schemas.openxmlformats.org/officeDocument/2006/relationships/image"/><Relationship Id="rId6" Target="../media/image33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4.png" Type="http://schemas.openxmlformats.org/officeDocument/2006/relationships/image"/><Relationship Id="rId5" Target="../media/image3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366517">
            <a:off x="8172982" y="-1473762"/>
            <a:ext cx="12307770" cy="7200900"/>
          </a:xfrm>
          <a:custGeom>
            <a:avLst/>
            <a:gdLst/>
            <a:ahLst/>
            <a:cxnLst/>
            <a:rect r="r" b="b" t="t" l="l"/>
            <a:pathLst>
              <a:path h="7200900" w="12307770">
                <a:moveTo>
                  <a:pt x="0" y="0"/>
                </a:moveTo>
                <a:lnTo>
                  <a:pt x="12307770" y="0"/>
                </a:lnTo>
                <a:lnTo>
                  <a:pt x="12307770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493551">
            <a:off x="-3091661" y="3509943"/>
            <a:ext cx="15325477" cy="8242765"/>
          </a:xfrm>
          <a:custGeom>
            <a:avLst/>
            <a:gdLst/>
            <a:ahLst/>
            <a:cxnLst/>
            <a:rect r="r" b="b" t="t" l="l"/>
            <a:pathLst>
              <a:path h="8242765" w="15325477">
                <a:moveTo>
                  <a:pt x="0" y="0"/>
                </a:moveTo>
                <a:lnTo>
                  <a:pt x="15325477" y="0"/>
                </a:lnTo>
                <a:lnTo>
                  <a:pt x="15325477" y="8242765"/>
                </a:lnTo>
                <a:lnTo>
                  <a:pt x="0" y="82427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350042" y="349542"/>
            <a:ext cx="9587917" cy="9587917"/>
          </a:xfrm>
          <a:custGeom>
            <a:avLst/>
            <a:gdLst/>
            <a:ahLst/>
            <a:cxnLst/>
            <a:rect r="r" b="b" t="t" l="l"/>
            <a:pathLst>
              <a:path h="9587917" w="9587917">
                <a:moveTo>
                  <a:pt x="0" y="0"/>
                </a:moveTo>
                <a:lnTo>
                  <a:pt x="9587916" y="0"/>
                </a:lnTo>
                <a:lnTo>
                  <a:pt x="9587916" y="9587916"/>
                </a:lnTo>
                <a:lnTo>
                  <a:pt x="0" y="95879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3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984372" y="3177211"/>
            <a:ext cx="14319257" cy="2841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51"/>
              </a:lnSpc>
            </a:pPr>
            <a:r>
              <a:rPr lang="en-US" sz="14893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VION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204405" y="6103530"/>
            <a:ext cx="7879189" cy="1200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36"/>
              </a:lnSpc>
            </a:pPr>
            <a:r>
              <a:rPr lang="en-US" sz="3200" spc="7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CAMERA QUE PROPAGA A SEGURANÇA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433588" y="5806884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657079" y="1600342"/>
            <a:ext cx="7060793" cy="6649983"/>
          </a:xfrm>
          <a:custGeom>
            <a:avLst/>
            <a:gdLst/>
            <a:ahLst/>
            <a:cxnLst/>
            <a:rect r="r" b="b" t="t" l="l"/>
            <a:pathLst>
              <a:path h="6649983" w="7060793">
                <a:moveTo>
                  <a:pt x="0" y="0"/>
                </a:moveTo>
                <a:lnTo>
                  <a:pt x="7060793" y="0"/>
                </a:lnTo>
                <a:lnTo>
                  <a:pt x="7060793" y="6649983"/>
                </a:lnTo>
                <a:lnTo>
                  <a:pt x="0" y="66499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664621" y="-753127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840626" y="4434308"/>
            <a:ext cx="6356340" cy="1372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21"/>
              </a:lnSpc>
            </a:pPr>
            <a:r>
              <a:rPr lang="en-US" sz="25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Identificação lenta de ocorrências de risco e emergência.</a:t>
            </a:r>
          </a:p>
          <a:p>
            <a:pPr algn="just">
              <a:lnSpc>
                <a:spcPts val="3621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840626" y="2425131"/>
            <a:ext cx="7722254" cy="1275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72"/>
              </a:lnSpc>
            </a:pPr>
            <a:r>
              <a:rPr lang="en-US" sz="4135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IDENTIFICAÇÃO LENTA DE OCORRÊNCIAS DE RISCO E EMERGÊNCIA.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592224" y="-3732007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857345" y="1028700"/>
            <a:ext cx="4932403" cy="10808055"/>
          </a:xfrm>
          <a:custGeom>
            <a:avLst/>
            <a:gdLst/>
            <a:ahLst/>
            <a:cxnLst/>
            <a:rect r="r" b="b" t="t" l="l"/>
            <a:pathLst>
              <a:path h="10808055" w="4932403">
                <a:moveTo>
                  <a:pt x="0" y="0"/>
                </a:moveTo>
                <a:lnTo>
                  <a:pt x="4932404" y="0"/>
                </a:lnTo>
                <a:lnTo>
                  <a:pt x="4932404" y="10808055"/>
                </a:lnTo>
                <a:lnTo>
                  <a:pt x="0" y="108080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917121" y="4900273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945489" y="3708094"/>
            <a:ext cx="7281133" cy="5150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95"/>
              </a:lnSpc>
            </a:pPr>
            <a:r>
              <a:rPr lang="en-US" sz="242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Acidentes podem ocorrer a qualquer momento em ambientes urbanos, industriais e de trabalho. A demora na identificação dessas ocorrências pode aumentar os riscos às pessoas e os prejuízos causados. Pensando nisso, este projeto propõe um sistema de monitoramento baseado em Inteligência Artificial e Visão Computacional, capaz de detectar acidentes em tempo real e acionar automaticamente os responsáveis pela área, contribuindo para uma resposta mais rápida e eficiente em situações de emergência.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85716" y="2014709"/>
            <a:ext cx="6640906" cy="1610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000"/>
              </a:lnSpc>
            </a:pPr>
            <a:r>
              <a:rPr lang="en-US" sz="9734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CONTEXTO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408800" y="9201150"/>
            <a:ext cx="5817821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VION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30674" y="6426980"/>
            <a:ext cx="4952166" cy="4114800"/>
          </a:xfrm>
          <a:custGeom>
            <a:avLst/>
            <a:gdLst/>
            <a:ahLst/>
            <a:cxnLst/>
            <a:rect r="r" b="b" t="t" l="l"/>
            <a:pathLst>
              <a:path h="4114800" w="4952166">
                <a:moveTo>
                  <a:pt x="0" y="0"/>
                </a:moveTo>
                <a:lnTo>
                  <a:pt x="4952166" y="0"/>
                </a:lnTo>
                <a:lnTo>
                  <a:pt x="495216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543425" y="1340630"/>
            <a:ext cx="9201150" cy="9201150"/>
          </a:xfrm>
          <a:custGeom>
            <a:avLst/>
            <a:gdLst/>
            <a:ahLst/>
            <a:cxnLst/>
            <a:rect r="r" b="b" t="t" l="l"/>
            <a:pathLst>
              <a:path h="9201150" w="9201150">
                <a:moveTo>
                  <a:pt x="0" y="0"/>
                </a:moveTo>
                <a:lnTo>
                  <a:pt x="9201150" y="0"/>
                </a:lnTo>
                <a:lnTo>
                  <a:pt x="9201150" y="9201150"/>
                </a:lnTo>
                <a:lnTo>
                  <a:pt x="0" y="92011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921492" y="2935580"/>
            <a:ext cx="10445016" cy="5944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58436" indent="-279218" lvl="1">
              <a:lnSpc>
                <a:spcPts val="3621"/>
              </a:lnSpc>
              <a:buFont typeface="Arial"/>
              <a:buChar char="•"/>
            </a:pPr>
            <a:r>
              <a:rPr lang="en-US" sz="25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Bahia liderou o número de mortes violentas em 2023. </a:t>
            </a:r>
          </a:p>
          <a:p>
            <a:pPr algn="ctr">
              <a:lnSpc>
                <a:spcPts val="3621"/>
              </a:lnSpc>
            </a:pPr>
          </a:p>
          <a:p>
            <a:pPr algn="ctr" marL="558436" indent="-279218" lvl="1">
              <a:lnSpc>
                <a:spcPts val="3621"/>
              </a:lnSpc>
              <a:buFont typeface="Arial"/>
              <a:buChar char="•"/>
            </a:pPr>
            <a:r>
              <a:rPr lang="en-US" sz="25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Mais de 724 mil acidentes de trabalho foram registrados no Brasil em 2024.</a:t>
            </a:r>
          </a:p>
          <a:p>
            <a:pPr algn="ctr">
              <a:lnSpc>
                <a:spcPts val="3621"/>
              </a:lnSpc>
            </a:pPr>
          </a:p>
          <a:p>
            <a:pPr algn="ctr" marL="558436" indent="-279218" lvl="1">
              <a:lnSpc>
                <a:spcPts val="3621"/>
              </a:lnSpc>
              <a:buFont typeface="Arial"/>
              <a:buChar char="•"/>
            </a:pPr>
            <a:r>
              <a:rPr lang="en-US" sz="25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Apenas no Paraná, o SAMU recebeu mais de 1,2 milhão de ligações em 2025, incluindo ocorrências traumáticas como acidentes de trânsito e quedas.</a:t>
            </a:r>
          </a:p>
          <a:p>
            <a:pPr algn="ctr">
              <a:lnSpc>
                <a:spcPts val="3621"/>
              </a:lnSpc>
            </a:pPr>
          </a:p>
          <a:p>
            <a:pPr algn="ctr" marL="558436" indent="-279218" lvl="1">
              <a:lnSpc>
                <a:spcPts val="3621"/>
              </a:lnSpc>
              <a:buFont typeface="Arial"/>
              <a:buChar char="•"/>
            </a:pPr>
            <a:r>
              <a:rPr lang="en-US" sz="25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Estudos nacionais indicam que, em média, são realizadas 109,8 chamadas para o SAMU a cada 1.000 habitantes cobertos por ano.</a:t>
            </a:r>
          </a:p>
          <a:p>
            <a:pPr algn="ctr">
              <a:lnSpc>
                <a:spcPts val="3621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4094812" y="895350"/>
            <a:ext cx="10098376" cy="1610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0"/>
              </a:lnSpc>
            </a:pPr>
            <a:r>
              <a:rPr lang="en-US" sz="9734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DADOS DO PROBLEMA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405829" y="8663939"/>
            <a:ext cx="5817821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VION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4783217" y="-964573"/>
            <a:ext cx="4952166" cy="4114800"/>
          </a:xfrm>
          <a:custGeom>
            <a:avLst/>
            <a:gdLst/>
            <a:ahLst/>
            <a:cxnLst/>
            <a:rect r="r" b="b" t="t" l="l"/>
            <a:pathLst>
              <a:path h="4114800" w="4952166">
                <a:moveTo>
                  <a:pt x="0" y="0"/>
                </a:moveTo>
                <a:lnTo>
                  <a:pt x="4952166" y="0"/>
                </a:lnTo>
                <a:lnTo>
                  <a:pt x="495216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631070" y="657225"/>
            <a:ext cx="4609246" cy="4114800"/>
          </a:xfrm>
          <a:custGeom>
            <a:avLst/>
            <a:gdLst/>
            <a:ahLst/>
            <a:cxnLst/>
            <a:rect r="r" b="b" t="t" l="l"/>
            <a:pathLst>
              <a:path h="4114800" w="4609246">
                <a:moveTo>
                  <a:pt x="0" y="0"/>
                </a:moveTo>
                <a:lnTo>
                  <a:pt x="4609247" y="0"/>
                </a:lnTo>
                <a:lnTo>
                  <a:pt x="46092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543425" y="1014481"/>
            <a:ext cx="9201150" cy="9201150"/>
          </a:xfrm>
          <a:custGeom>
            <a:avLst/>
            <a:gdLst/>
            <a:ahLst/>
            <a:cxnLst/>
            <a:rect r="r" b="b" t="t" l="l"/>
            <a:pathLst>
              <a:path h="9201150" w="9201150">
                <a:moveTo>
                  <a:pt x="0" y="0"/>
                </a:moveTo>
                <a:lnTo>
                  <a:pt x="9201150" y="0"/>
                </a:lnTo>
                <a:lnTo>
                  <a:pt x="9201150" y="9201150"/>
                </a:lnTo>
                <a:lnTo>
                  <a:pt x="0" y="92011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921492" y="2647950"/>
            <a:ext cx="10445016" cy="5487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21"/>
              </a:lnSpc>
            </a:pPr>
            <a:r>
              <a:rPr lang="en-US" sz="25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 projeto propõe o desenvolvimento de um sistema de monitoramento inteligente baseado em Inteligência Artificial e Visão Computacional, capaz de identificar automaticamente acidentes em tempo real por meio de câmeras.</a:t>
            </a:r>
          </a:p>
          <a:p>
            <a:pPr algn="ctr">
              <a:lnSpc>
                <a:spcPts val="3621"/>
              </a:lnSpc>
            </a:pPr>
          </a:p>
          <a:p>
            <a:pPr algn="ctr">
              <a:lnSpc>
                <a:spcPts val="3621"/>
              </a:lnSpc>
            </a:pPr>
            <a:r>
              <a:rPr lang="en-US" sz="25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Ao detectar uma situação de emergência, o sistema envia alertas imediatos aos responsáveis pela área, permitindo uma resposta rápida e reduzindo o tempo de atendimento. Dessa forma, a solução contribui para aumentar a segurança em ambientes urbanos, industriais e de trabalho, minimizando riscos e prejuízos.</a:t>
            </a:r>
          </a:p>
          <a:p>
            <a:pPr algn="ctr">
              <a:lnSpc>
                <a:spcPts val="3621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5823547" y="895350"/>
            <a:ext cx="6640906" cy="1610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0"/>
              </a:lnSpc>
            </a:pPr>
            <a:r>
              <a:rPr lang="en-US" sz="9734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SOLUÇÃO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235089" y="8652573"/>
            <a:ext cx="5817821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VION</a:t>
            </a:r>
          </a:p>
        </p:txBody>
      </p:sp>
      <p:sp>
        <p:nvSpPr>
          <p:cNvPr name="Freeform 7" id="7"/>
          <p:cNvSpPr/>
          <p:nvPr/>
        </p:nvSpPr>
        <p:spPr>
          <a:xfrm flipH="true" flipV="false" rot="0">
            <a:off x="15156062" y="5658901"/>
            <a:ext cx="4609246" cy="4114800"/>
          </a:xfrm>
          <a:custGeom>
            <a:avLst/>
            <a:gdLst/>
            <a:ahLst/>
            <a:cxnLst/>
            <a:rect r="r" b="b" t="t" l="l"/>
            <a:pathLst>
              <a:path h="4114800" w="4609246">
                <a:moveTo>
                  <a:pt x="4609247" y="0"/>
                </a:moveTo>
                <a:lnTo>
                  <a:pt x="0" y="0"/>
                </a:lnTo>
                <a:lnTo>
                  <a:pt x="0" y="4114800"/>
                </a:lnTo>
                <a:lnTo>
                  <a:pt x="4609247" y="4114800"/>
                </a:lnTo>
                <a:lnTo>
                  <a:pt x="460924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7796" y="-3767991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21853" y="2089310"/>
            <a:ext cx="2948680" cy="2959442"/>
          </a:xfrm>
          <a:custGeom>
            <a:avLst/>
            <a:gdLst/>
            <a:ahLst/>
            <a:cxnLst/>
            <a:rect r="r" b="b" t="t" l="l"/>
            <a:pathLst>
              <a:path h="2959442" w="2948680">
                <a:moveTo>
                  <a:pt x="0" y="0"/>
                </a:moveTo>
                <a:lnTo>
                  <a:pt x="2948680" y="0"/>
                </a:lnTo>
                <a:lnTo>
                  <a:pt x="2948680" y="2959442"/>
                </a:lnTo>
                <a:lnTo>
                  <a:pt x="0" y="29594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886508" y="-938824"/>
            <a:ext cx="4099837" cy="4114800"/>
          </a:xfrm>
          <a:custGeom>
            <a:avLst/>
            <a:gdLst/>
            <a:ahLst/>
            <a:cxnLst/>
            <a:rect r="r" b="b" t="t" l="l"/>
            <a:pathLst>
              <a:path h="4114800" w="4099837">
                <a:moveTo>
                  <a:pt x="0" y="0"/>
                </a:moveTo>
                <a:lnTo>
                  <a:pt x="4099837" y="0"/>
                </a:lnTo>
                <a:lnTo>
                  <a:pt x="409983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936200" y="9083515"/>
            <a:ext cx="2378335" cy="2387015"/>
          </a:xfrm>
          <a:custGeom>
            <a:avLst/>
            <a:gdLst/>
            <a:ahLst/>
            <a:cxnLst/>
            <a:rect r="r" b="b" t="t" l="l"/>
            <a:pathLst>
              <a:path h="2387015" w="2378335">
                <a:moveTo>
                  <a:pt x="0" y="0"/>
                </a:moveTo>
                <a:lnTo>
                  <a:pt x="2378334" y="0"/>
                </a:lnTo>
                <a:lnTo>
                  <a:pt x="2378334" y="2387015"/>
                </a:lnTo>
                <a:lnTo>
                  <a:pt x="0" y="23870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373883" y="5552449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6967073" y="2904110"/>
            <a:ext cx="3528040" cy="663420"/>
            <a:chOff x="0" y="0"/>
            <a:chExt cx="1244945" cy="23410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44945" cy="234102"/>
            </a:xfrm>
            <a:custGeom>
              <a:avLst/>
              <a:gdLst/>
              <a:ahLst/>
              <a:cxnLst/>
              <a:rect r="r" b="b" t="t" l="l"/>
              <a:pathLst>
                <a:path h="234102" w="1244945">
                  <a:moveTo>
                    <a:pt x="57054" y="0"/>
                  </a:moveTo>
                  <a:lnTo>
                    <a:pt x="1187890" y="0"/>
                  </a:lnTo>
                  <a:cubicBezTo>
                    <a:pt x="1219401" y="0"/>
                    <a:pt x="1244945" y="25544"/>
                    <a:pt x="1244945" y="57054"/>
                  </a:cubicBezTo>
                  <a:lnTo>
                    <a:pt x="1244945" y="177048"/>
                  </a:lnTo>
                  <a:cubicBezTo>
                    <a:pt x="1244945" y="208558"/>
                    <a:pt x="1219401" y="234102"/>
                    <a:pt x="1187890" y="234102"/>
                  </a:cubicBezTo>
                  <a:lnTo>
                    <a:pt x="57054" y="234102"/>
                  </a:lnTo>
                  <a:cubicBezTo>
                    <a:pt x="25544" y="234102"/>
                    <a:pt x="0" y="208558"/>
                    <a:pt x="0" y="177048"/>
                  </a:cubicBezTo>
                  <a:lnTo>
                    <a:pt x="0" y="57054"/>
                  </a:lnTo>
                  <a:cubicBezTo>
                    <a:pt x="0" y="25544"/>
                    <a:pt x="25544" y="0"/>
                    <a:pt x="57054" y="0"/>
                  </a:cubicBezTo>
                  <a:close/>
                </a:path>
              </a:pathLst>
            </a:custGeom>
            <a:solidFill>
              <a:srgbClr val="000000"/>
            </a:solidFill>
            <a:ln w="28575" cap="rnd">
              <a:solidFill>
                <a:srgbClr val="292A29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1244945" cy="3007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Inicio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67073" y="4008537"/>
            <a:ext cx="3528040" cy="663420"/>
            <a:chOff x="0" y="0"/>
            <a:chExt cx="1244945" cy="23410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44945" cy="234102"/>
            </a:xfrm>
            <a:custGeom>
              <a:avLst/>
              <a:gdLst/>
              <a:ahLst/>
              <a:cxnLst/>
              <a:rect r="r" b="b" t="t" l="l"/>
              <a:pathLst>
                <a:path h="234102" w="1244945">
                  <a:moveTo>
                    <a:pt x="57054" y="0"/>
                  </a:moveTo>
                  <a:lnTo>
                    <a:pt x="1187890" y="0"/>
                  </a:lnTo>
                  <a:cubicBezTo>
                    <a:pt x="1219401" y="0"/>
                    <a:pt x="1244945" y="25544"/>
                    <a:pt x="1244945" y="57054"/>
                  </a:cubicBezTo>
                  <a:lnTo>
                    <a:pt x="1244945" y="177048"/>
                  </a:lnTo>
                  <a:cubicBezTo>
                    <a:pt x="1244945" y="208558"/>
                    <a:pt x="1219401" y="234102"/>
                    <a:pt x="1187890" y="234102"/>
                  </a:cubicBezTo>
                  <a:lnTo>
                    <a:pt x="57054" y="234102"/>
                  </a:lnTo>
                  <a:cubicBezTo>
                    <a:pt x="25544" y="234102"/>
                    <a:pt x="0" y="208558"/>
                    <a:pt x="0" y="177048"/>
                  </a:cubicBezTo>
                  <a:lnTo>
                    <a:pt x="0" y="57054"/>
                  </a:lnTo>
                  <a:cubicBezTo>
                    <a:pt x="0" y="25544"/>
                    <a:pt x="25544" y="0"/>
                    <a:pt x="57054" y="0"/>
                  </a:cubicBezTo>
                  <a:close/>
                </a:path>
              </a:pathLst>
            </a:custGeom>
            <a:solidFill>
              <a:srgbClr val="000000"/>
            </a:solidFill>
            <a:ln w="28575" cap="rnd">
              <a:solidFill>
                <a:srgbClr val="292A29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1244945" cy="3007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Acessar a Camera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967073" y="5112964"/>
            <a:ext cx="3528040" cy="663420"/>
            <a:chOff x="0" y="0"/>
            <a:chExt cx="1244945" cy="23410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44945" cy="234102"/>
            </a:xfrm>
            <a:custGeom>
              <a:avLst/>
              <a:gdLst/>
              <a:ahLst/>
              <a:cxnLst/>
              <a:rect r="r" b="b" t="t" l="l"/>
              <a:pathLst>
                <a:path h="234102" w="1244945">
                  <a:moveTo>
                    <a:pt x="57054" y="0"/>
                  </a:moveTo>
                  <a:lnTo>
                    <a:pt x="1187890" y="0"/>
                  </a:lnTo>
                  <a:cubicBezTo>
                    <a:pt x="1219401" y="0"/>
                    <a:pt x="1244945" y="25544"/>
                    <a:pt x="1244945" y="57054"/>
                  </a:cubicBezTo>
                  <a:lnTo>
                    <a:pt x="1244945" y="177048"/>
                  </a:lnTo>
                  <a:cubicBezTo>
                    <a:pt x="1244945" y="208558"/>
                    <a:pt x="1219401" y="234102"/>
                    <a:pt x="1187890" y="234102"/>
                  </a:cubicBezTo>
                  <a:lnTo>
                    <a:pt x="57054" y="234102"/>
                  </a:lnTo>
                  <a:cubicBezTo>
                    <a:pt x="25544" y="234102"/>
                    <a:pt x="0" y="208558"/>
                    <a:pt x="0" y="177048"/>
                  </a:cubicBezTo>
                  <a:lnTo>
                    <a:pt x="0" y="57054"/>
                  </a:lnTo>
                  <a:cubicBezTo>
                    <a:pt x="0" y="25544"/>
                    <a:pt x="25544" y="0"/>
                    <a:pt x="57054" y="0"/>
                  </a:cubicBezTo>
                  <a:close/>
                </a:path>
              </a:pathLst>
            </a:custGeom>
            <a:solidFill>
              <a:srgbClr val="000000"/>
            </a:solidFill>
            <a:ln w="28575" cap="rnd">
              <a:solidFill>
                <a:srgbClr val="292A29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1244945" cy="3007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YOLO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7696603" y="6061673"/>
            <a:ext cx="2068979" cy="2068979"/>
          </a:xfrm>
          <a:custGeom>
            <a:avLst/>
            <a:gdLst/>
            <a:ahLst/>
            <a:cxnLst/>
            <a:rect r="r" b="b" t="t" l="l"/>
            <a:pathLst>
              <a:path h="2068979" w="2068979">
                <a:moveTo>
                  <a:pt x="0" y="0"/>
                </a:moveTo>
                <a:lnTo>
                  <a:pt x="2068979" y="0"/>
                </a:lnTo>
                <a:lnTo>
                  <a:pt x="2068979" y="2068979"/>
                </a:lnTo>
                <a:lnTo>
                  <a:pt x="0" y="206897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7" id="17"/>
          <p:cNvSpPr txBox="true"/>
          <p:nvPr/>
        </p:nvSpPr>
        <p:spPr>
          <a:xfrm rot="0">
            <a:off x="3169974" y="895350"/>
            <a:ext cx="11948052" cy="1610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0"/>
              </a:lnSpc>
            </a:pPr>
            <a:r>
              <a:rPr lang="en-US" sz="9734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FLUXOGRAMA DO PROJETO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543626" y="8384756"/>
            <a:ext cx="3528040" cy="728575"/>
            <a:chOff x="0" y="0"/>
            <a:chExt cx="1244945" cy="25709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44945" cy="257093"/>
            </a:xfrm>
            <a:custGeom>
              <a:avLst/>
              <a:gdLst/>
              <a:ahLst/>
              <a:cxnLst/>
              <a:rect r="r" b="b" t="t" l="l"/>
              <a:pathLst>
                <a:path h="257093" w="1244945">
                  <a:moveTo>
                    <a:pt x="57054" y="0"/>
                  </a:moveTo>
                  <a:lnTo>
                    <a:pt x="1187890" y="0"/>
                  </a:lnTo>
                  <a:cubicBezTo>
                    <a:pt x="1219401" y="0"/>
                    <a:pt x="1244945" y="25544"/>
                    <a:pt x="1244945" y="57054"/>
                  </a:cubicBezTo>
                  <a:lnTo>
                    <a:pt x="1244945" y="200039"/>
                  </a:lnTo>
                  <a:cubicBezTo>
                    <a:pt x="1244945" y="231549"/>
                    <a:pt x="1219401" y="257093"/>
                    <a:pt x="1187890" y="257093"/>
                  </a:cubicBezTo>
                  <a:lnTo>
                    <a:pt x="57054" y="257093"/>
                  </a:lnTo>
                  <a:cubicBezTo>
                    <a:pt x="25544" y="257093"/>
                    <a:pt x="0" y="231549"/>
                    <a:pt x="0" y="200039"/>
                  </a:cubicBezTo>
                  <a:lnTo>
                    <a:pt x="0" y="57054"/>
                  </a:lnTo>
                  <a:cubicBezTo>
                    <a:pt x="0" y="25544"/>
                    <a:pt x="25544" y="0"/>
                    <a:pt x="57054" y="0"/>
                  </a:cubicBezTo>
                  <a:close/>
                </a:path>
              </a:pathLst>
            </a:custGeom>
            <a:solidFill>
              <a:srgbClr val="000000"/>
            </a:solidFill>
            <a:ln w="28575" cap="rnd">
              <a:solidFill>
                <a:srgbClr val="292A29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1244945" cy="3047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  <a:r>
                <a:rPr lang="en-US" sz="14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Acionar responsaveis emergenciais ou autoridades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 flipH="true">
            <a:off x="8731093" y="3567529"/>
            <a:ext cx="0" cy="225436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2" id="22"/>
          <p:cNvSpPr/>
          <p:nvPr/>
        </p:nvSpPr>
        <p:spPr>
          <a:xfrm flipH="true">
            <a:off x="8731093" y="4671956"/>
            <a:ext cx="0" cy="273303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3" id="23"/>
          <p:cNvSpPr/>
          <p:nvPr/>
        </p:nvSpPr>
        <p:spPr>
          <a:xfrm flipH="true">
            <a:off x="8731093" y="5776383"/>
            <a:ext cx="0" cy="28529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4" id="24"/>
          <p:cNvSpPr/>
          <p:nvPr/>
        </p:nvSpPr>
        <p:spPr>
          <a:xfrm flipH="true">
            <a:off x="9765582" y="7096163"/>
            <a:ext cx="1542063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 flipV="true">
            <a:off x="11307646" y="7096163"/>
            <a:ext cx="0" cy="103449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arrow" len="sm" w="med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 flipH="true" flipV="true">
            <a:off x="6205069" y="8716466"/>
            <a:ext cx="3338557" cy="32577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>
            <a:off x="6205069" y="7372728"/>
            <a:ext cx="0" cy="1343738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arrow" len="sm" w="med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>
            <a:off x="6181074" y="7087055"/>
            <a:ext cx="1515530" cy="9108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>
            <a:off x="6205069" y="5444673"/>
            <a:ext cx="0" cy="1642381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>
            <a:off x="6205069" y="5444673"/>
            <a:ext cx="426069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31" id="31"/>
          <p:cNvSpPr txBox="true"/>
          <p:nvPr/>
        </p:nvSpPr>
        <p:spPr>
          <a:xfrm rot="0">
            <a:off x="7588881" y="6861773"/>
            <a:ext cx="2284424" cy="488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Detectou uma ação emergencial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021255">
            <a:off x="917609" y="5780776"/>
            <a:ext cx="4259304" cy="8050231"/>
          </a:xfrm>
          <a:custGeom>
            <a:avLst/>
            <a:gdLst/>
            <a:ahLst/>
            <a:cxnLst/>
            <a:rect r="r" b="b" t="t" l="l"/>
            <a:pathLst>
              <a:path h="8050231" w="4259304">
                <a:moveTo>
                  <a:pt x="0" y="0"/>
                </a:moveTo>
                <a:lnTo>
                  <a:pt x="4259304" y="0"/>
                </a:lnTo>
                <a:lnTo>
                  <a:pt x="4259304" y="8050231"/>
                </a:lnTo>
                <a:lnTo>
                  <a:pt x="0" y="80502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727695" y="4488620"/>
            <a:ext cx="1471384" cy="1610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0"/>
              </a:lnSpc>
            </a:pPr>
            <a:r>
              <a:rPr lang="en-US" sz="9734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X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5400000">
            <a:off x="14502228" y="5233184"/>
            <a:ext cx="4259304" cy="8050231"/>
          </a:xfrm>
          <a:custGeom>
            <a:avLst/>
            <a:gdLst/>
            <a:ahLst/>
            <a:cxnLst/>
            <a:rect r="r" b="b" t="t" l="l"/>
            <a:pathLst>
              <a:path h="8050231" w="4259304">
                <a:moveTo>
                  <a:pt x="0" y="0"/>
                </a:moveTo>
                <a:lnTo>
                  <a:pt x="4259304" y="0"/>
                </a:lnTo>
                <a:lnTo>
                  <a:pt x="4259304" y="8050232"/>
                </a:lnTo>
                <a:lnTo>
                  <a:pt x="0" y="80502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4057650" y="-1196503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037247" y="-3693869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638697" y="2346062"/>
            <a:ext cx="5362624" cy="6488203"/>
            <a:chOff x="0" y="0"/>
            <a:chExt cx="1412378" cy="170882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12378" cy="1708827"/>
            </a:xfrm>
            <a:custGeom>
              <a:avLst/>
              <a:gdLst/>
              <a:ahLst/>
              <a:cxnLst/>
              <a:rect r="r" b="b" t="t" l="l"/>
              <a:pathLst>
                <a:path h="1708827" w="1412378">
                  <a:moveTo>
                    <a:pt x="63522" y="0"/>
                  </a:moveTo>
                  <a:lnTo>
                    <a:pt x="1348856" y="0"/>
                  </a:lnTo>
                  <a:cubicBezTo>
                    <a:pt x="1383939" y="0"/>
                    <a:pt x="1412378" y="28440"/>
                    <a:pt x="1412378" y="63522"/>
                  </a:cubicBezTo>
                  <a:lnTo>
                    <a:pt x="1412378" y="1645305"/>
                  </a:lnTo>
                  <a:cubicBezTo>
                    <a:pt x="1412378" y="1662152"/>
                    <a:pt x="1405686" y="1678309"/>
                    <a:pt x="1393773" y="1690222"/>
                  </a:cubicBezTo>
                  <a:cubicBezTo>
                    <a:pt x="1381861" y="1702135"/>
                    <a:pt x="1365703" y="1708827"/>
                    <a:pt x="1348856" y="1708827"/>
                  </a:cubicBezTo>
                  <a:lnTo>
                    <a:pt x="63522" y="1708827"/>
                  </a:lnTo>
                  <a:cubicBezTo>
                    <a:pt x="46675" y="1708827"/>
                    <a:pt x="30518" y="1702135"/>
                    <a:pt x="18605" y="1690222"/>
                  </a:cubicBezTo>
                  <a:cubicBezTo>
                    <a:pt x="6692" y="1678309"/>
                    <a:pt x="0" y="1662152"/>
                    <a:pt x="0" y="1645305"/>
                  </a:cubicBezTo>
                  <a:lnTo>
                    <a:pt x="0" y="63522"/>
                  </a:lnTo>
                  <a:cubicBezTo>
                    <a:pt x="0" y="46675"/>
                    <a:pt x="6692" y="30518"/>
                    <a:pt x="18605" y="18605"/>
                  </a:cubicBezTo>
                  <a:cubicBezTo>
                    <a:pt x="30518" y="6692"/>
                    <a:pt x="46675" y="0"/>
                    <a:pt x="63522" y="0"/>
                  </a:cubicBezTo>
                  <a:close/>
                </a:path>
              </a:pathLst>
            </a:custGeom>
            <a:solidFill>
              <a:srgbClr val="000000"/>
            </a:soli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1412378" cy="17755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5765556" y="9201150"/>
            <a:ext cx="5817821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VION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925452" y="2346062"/>
            <a:ext cx="5362624" cy="6488203"/>
            <a:chOff x="0" y="0"/>
            <a:chExt cx="1412378" cy="170882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12378" cy="1708827"/>
            </a:xfrm>
            <a:custGeom>
              <a:avLst/>
              <a:gdLst/>
              <a:ahLst/>
              <a:cxnLst/>
              <a:rect r="r" b="b" t="t" l="l"/>
              <a:pathLst>
                <a:path h="1708827" w="1412378">
                  <a:moveTo>
                    <a:pt x="63522" y="0"/>
                  </a:moveTo>
                  <a:lnTo>
                    <a:pt x="1348856" y="0"/>
                  </a:lnTo>
                  <a:cubicBezTo>
                    <a:pt x="1383939" y="0"/>
                    <a:pt x="1412378" y="28440"/>
                    <a:pt x="1412378" y="63522"/>
                  </a:cubicBezTo>
                  <a:lnTo>
                    <a:pt x="1412378" y="1645305"/>
                  </a:lnTo>
                  <a:cubicBezTo>
                    <a:pt x="1412378" y="1662152"/>
                    <a:pt x="1405686" y="1678309"/>
                    <a:pt x="1393773" y="1690222"/>
                  </a:cubicBezTo>
                  <a:cubicBezTo>
                    <a:pt x="1381861" y="1702135"/>
                    <a:pt x="1365703" y="1708827"/>
                    <a:pt x="1348856" y="1708827"/>
                  </a:cubicBezTo>
                  <a:lnTo>
                    <a:pt x="63522" y="1708827"/>
                  </a:lnTo>
                  <a:cubicBezTo>
                    <a:pt x="46675" y="1708827"/>
                    <a:pt x="30518" y="1702135"/>
                    <a:pt x="18605" y="1690222"/>
                  </a:cubicBezTo>
                  <a:cubicBezTo>
                    <a:pt x="6692" y="1678309"/>
                    <a:pt x="0" y="1662152"/>
                    <a:pt x="0" y="1645305"/>
                  </a:cubicBezTo>
                  <a:lnTo>
                    <a:pt x="0" y="63522"/>
                  </a:lnTo>
                  <a:cubicBezTo>
                    <a:pt x="0" y="46675"/>
                    <a:pt x="6692" y="30518"/>
                    <a:pt x="18605" y="18605"/>
                  </a:cubicBezTo>
                  <a:cubicBezTo>
                    <a:pt x="30518" y="6692"/>
                    <a:pt x="46675" y="0"/>
                    <a:pt x="63522" y="0"/>
                  </a:cubicBezTo>
                  <a:close/>
                </a:path>
              </a:pathLst>
            </a:custGeom>
            <a:solidFill>
              <a:srgbClr val="000000"/>
            </a:soli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1412378" cy="17755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524171" y="2457972"/>
            <a:ext cx="4165186" cy="1016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32"/>
              </a:lnSpc>
            </a:pPr>
            <a:r>
              <a:rPr lang="en-US" sz="6135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PROBLEMAS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237416" y="2457972"/>
            <a:ext cx="4165186" cy="1016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32"/>
              </a:lnSpc>
            </a:pPr>
            <a:r>
              <a:rPr lang="en-US" sz="6135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SOLUÇOES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749243" y="3417389"/>
            <a:ext cx="3715043" cy="1009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1"/>
              </a:lnSpc>
            </a:pPr>
            <a:r>
              <a:rPr lang="en-US" sz="18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Demora para a chamada da emergência em ambientes ou horarios de pouco movimento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462487" y="3417389"/>
            <a:ext cx="3715043" cy="675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1"/>
              </a:lnSpc>
            </a:pPr>
            <a:r>
              <a:rPr lang="en-US" sz="18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Acionar emergencias em qualquer horario ou ambiente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974315" y="5086350"/>
            <a:ext cx="3715043" cy="675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1"/>
              </a:lnSpc>
            </a:pPr>
            <a:r>
              <a:rPr lang="en-US" sz="18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Chamada errada da autoridade ou emergencia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462487" y="4660624"/>
            <a:ext cx="3715043" cy="1342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1"/>
              </a:lnSpc>
            </a:pPr>
            <a:r>
              <a:rPr lang="en-US" sz="18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Sistema que já tem o numero no sistema para maior desempenho e segurança pela vida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462487" y="6546651"/>
            <a:ext cx="3715043" cy="675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1"/>
              </a:lnSpc>
            </a:pPr>
            <a:r>
              <a:rPr lang="en-US" sz="18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Os videos das cameras serão gravados 24h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749243" y="6713338"/>
            <a:ext cx="3715043" cy="675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1"/>
              </a:lnSpc>
            </a:pPr>
            <a:r>
              <a:rPr lang="en-US" sz="18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Falta de motivo do acidente ou falta de provas de crimes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004618" y="5473935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95888" y="3089624"/>
            <a:ext cx="2825356" cy="1092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52"/>
              </a:lnSpc>
            </a:pPr>
            <a:r>
              <a:rPr lang="en-US" sz="5751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Cliente 1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62458" y="4281344"/>
            <a:ext cx="3492216" cy="1416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797" indent="-215899" lvl="1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Empresas que preservam a segurança e o bem estar do funcionario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773610" y="2933113"/>
            <a:ext cx="2825356" cy="1092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52"/>
              </a:lnSpc>
            </a:pPr>
            <a:r>
              <a:rPr lang="en-US" sz="5751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Cliente 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688101" y="4095606"/>
            <a:ext cx="3152746" cy="1778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Pessoas que possuiem uma saude fragio ou tem conhecido com debilitações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044459" y="4115103"/>
            <a:ext cx="3990581" cy="72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Pessoas que querem mais segurança nas suas casas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627072" y="2933113"/>
            <a:ext cx="2825356" cy="1092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52"/>
              </a:lnSpc>
            </a:pPr>
            <a:r>
              <a:rPr lang="en-US" sz="5751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Cliente 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521599" y="638825"/>
            <a:ext cx="11179725" cy="1610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0"/>
              </a:lnSpc>
            </a:pPr>
            <a:r>
              <a:rPr lang="en-US" sz="9734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SEGUIMENTO DE CLIENTES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28700" y="2741933"/>
            <a:ext cx="4159732" cy="3825830"/>
            <a:chOff x="0" y="0"/>
            <a:chExt cx="883738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83738" cy="812800"/>
            </a:xfrm>
            <a:custGeom>
              <a:avLst/>
              <a:gdLst/>
              <a:ahLst/>
              <a:cxnLst/>
              <a:rect r="r" b="b" t="t" l="l"/>
              <a:pathLst>
                <a:path h="812800" w="883738">
                  <a:moveTo>
                    <a:pt x="441869" y="0"/>
                  </a:moveTo>
                  <a:cubicBezTo>
                    <a:pt x="197831" y="0"/>
                    <a:pt x="0" y="181951"/>
                    <a:pt x="0" y="406400"/>
                  </a:cubicBezTo>
                  <a:cubicBezTo>
                    <a:pt x="0" y="630849"/>
                    <a:pt x="197831" y="812800"/>
                    <a:pt x="441869" y="812800"/>
                  </a:cubicBezTo>
                  <a:cubicBezTo>
                    <a:pt x="685906" y="812800"/>
                    <a:pt x="883738" y="630849"/>
                    <a:pt x="883738" y="406400"/>
                  </a:cubicBezTo>
                  <a:cubicBezTo>
                    <a:pt x="883738" y="181951"/>
                    <a:pt x="685906" y="0"/>
                    <a:pt x="441869" y="0"/>
                  </a:cubicBez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82850" y="9525"/>
              <a:ext cx="718037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106422" y="2595888"/>
            <a:ext cx="4159732" cy="3825830"/>
            <a:chOff x="0" y="0"/>
            <a:chExt cx="883738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83738" cy="812800"/>
            </a:xfrm>
            <a:custGeom>
              <a:avLst/>
              <a:gdLst/>
              <a:ahLst/>
              <a:cxnLst/>
              <a:rect r="r" b="b" t="t" l="l"/>
              <a:pathLst>
                <a:path h="812800" w="883738">
                  <a:moveTo>
                    <a:pt x="441869" y="0"/>
                  </a:moveTo>
                  <a:cubicBezTo>
                    <a:pt x="197831" y="0"/>
                    <a:pt x="0" y="181951"/>
                    <a:pt x="0" y="406400"/>
                  </a:cubicBezTo>
                  <a:cubicBezTo>
                    <a:pt x="0" y="630849"/>
                    <a:pt x="197831" y="812800"/>
                    <a:pt x="441869" y="812800"/>
                  </a:cubicBezTo>
                  <a:cubicBezTo>
                    <a:pt x="685906" y="812800"/>
                    <a:pt x="883738" y="630849"/>
                    <a:pt x="883738" y="406400"/>
                  </a:cubicBezTo>
                  <a:cubicBezTo>
                    <a:pt x="883738" y="181951"/>
                    <a:pt x="685906" y="0"/>
                    <a:pt x="441869" y="0"/>
                  </a:cubicBez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82850" y="9525"/>
              <a:ext cx="718037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3380922" y="-3460452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2959884" y="2425579"/>
            <a:ext cx="4159732" cy="3825830"/>
            <a:chOff x="0" y="0"/>
            <a:chExt cx="883738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83738" cy="812800"/>
            </a:xfrm>
            <a:custGeom>
              <a:avLst/>
              <a:gdLst/>
              <a:ahLst/>
              <a:cxnLst/>
              <a:rect r="r" b="b" t="t" l="l"/>
              <a:pathLst>
                <a:path h="812800" w="883738">
                  <a:moveTo>
                    <a:pt x="441869" y="0"/>
                  </a:moveTo>
                  <a:cubicBezTo>
                    <a:pt x="197831" y="0"/>
                    <a:pt x="0" y="181951"/>
                    <a:pt x="0" y="406400"/>
                  </a:cubicBezTo>
                  <a:cubicBezTo>
                    <a:pt x="0" y="630849"/>
                    <a:pt x="197831" y="812800"/>
                    <a:pt x="441869" y="812800"/>
                  </a:cubicBezTo>
                  <a:cubicBezTo>
                    <a:pt x="685906" y="812800"/>
                    <a:pt x="883738" y="630849"/>
                    <a:pt x="883738" y="406400"/>
                  </a:cubicBezTo>
                  <a:cubicBezTo>
                    <a:pt x="883738" y="181951"/>
                    <a:pt x="685906" y="0"/>
                    <a:pt x="441869" y="0"/>
                  </a:cubicBez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82850" y="9525"/>
              <a:ext cx="718037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625262" y="8455120"/>
            <a:ext cx="5278422" cy="1312933"/>
            <a:chOff x="0" y="0"/>
            <a:chExt cx="1390202" cy="34579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90202" cy="345793"/>
            </a:xfrm>
            <a:custGeom>
              <a:avLst/>
              <a:gdLst/>
              <a:ahLst/>
              <a:cxnLst/>
              <a:rect r="r" b="b" t="t" l="l"/>
              <a:pathLst>
                <a:path h="345793" w="1390202">
                  <a:moveTo>
                    <a:pt x="146671" y="0"/>
                  </a:moveTo>
                  <a:lnTo>
                    <a:pt x="1243531" y="0"/>
                  </a:lnTo>
                  <a:cubicBezTo>
                    <a:pt x="1324535" y="0"/>
                    <a:pt x="1390202" y="65667"/>
                    <a:pt x="1390202" y="146671"/>
                  </a:cubicBezTo>
                  <a:lnTo>
                    <a:pt x="1390202" y="199122"/>
                  </a:lnTo>
                  <a:cubicBezTo>
                    <a:pt x="1390202" y="280126"/>
                    <a:pt x="1324535" y="345793"/>
                    <a:pt x="1243531" y="345793"/>
                  </a:cubicBezTo>
                  <a:lnTo>
                    <a:pt x="146671" y="345793"/>
                  </a:lnTo>
                  <a:cubicBezTo>
                    <a:pt x="65667" y="345793"/>
                    <a:pt x="0" y="280126"/>
                    <a:pt x="0" y="199122"/>
                  </a:cubicBezTo>
                  <a:lnTo>
                    <a:pt x="0" y="146671"/>
                  </a:lnTo>
                  <a:cubicBezTo>
                    <a:pt x="0" y="65667"/>
                    <a:pt x="65667" y="0"/>
                    <a:pt x="146671" y="0"/>
                  </a:cubicBezTo>
                  <a:close/>
                </a:path>
              </a:pathLst>
            </a:custGeom>
            <a:solidFill>
              <a:srgbClr val="000000"/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1390202" cy="4124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2215719">
            <a:off x="3677340" y="7614552"/>
            <a:ext cx="2062415" cy="678722"/>
          </a:xfrm>
          <a:custGeom>
            <a:avLst/>
            <a:gdLst/>
            <a:ahLst/>
            <a:cxnLst/>
            <a:rect r="r" b="b" t="t" l="l"/>
            <a:pathLst>
              <a:path h="678722" w="2062415">
                <a:moveTo>
                  <a:pt x="0" y="0"/>
                </a:moveTo>
                <a:lnTo>
                  <a:pt x="2062414" y="0"/>
                </a:lnTo>
                <a:lnTo>
                  <a:pt x="2062414" y="678722"/>
                </a:lnTo>
                <a:lnTo>
                  <a:pt x="0" y="6787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true" rot="8534592">
            <a:off x="12757806" y="7509462"/>
            <a:ext cx="2062415" cy="678722"/>
          </a:xfrm>
          <a:custGeom>
            <a:avLst/>
            <a:gdLst/>
            <a:ahLst/>
            <a:cxnLst/>
            <a:rect r="r" b="b" t="t" l="l"/>
            <a:pathLst>
              <a:path h="678722" w="2062415">
                <a:moveTo>
                  <a:pt x="0" y="678722"/>
                </a:moveTo>
                <a:lnTo>
                  <a:pt x="2062414" y="678722"/>
                </a:lnTo>
                <a:lnTo>
                  <a:pt x="2062414" y="0"/>
                </a:lnTo>
                <a:lnTo>
                  <a:pt x="0" y="0"/>
                </a:lnTo>
                <a:lnTo>
                  <a:pt x="0" y="67872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5188835">
            <a:off x="8286458" y="7110563"/>
            <a:ext cx="1634535" cy="490361"/>
          </a:xfrm>
          <a:custGeom>
            <a:avLst/>
            <a:gdLst/>
            <a:ahLst/>
            <a:cxnLst/>
            <a:rect r="r" b="b" t="t" l="l"/>
            <a:pathLst>
              <a:path h="490361" w="1634535">
                <a:moveTo>
                  <a:pt x="0" y="0"/>
                </a:moveTo>
                <a:lnTo>
                  <a:pt x="1634536" y="0"/>
                </a:lnTo>
                <a:lnTo>
                  <a:pt x="1634536" y="490361"/>
                </a:lnTo>
                <a:lnTo>
                  <a:pt x="0" y="49036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7449300" y="8516109"/>
            <a:ext cx="3630348" cy="1105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91"/>
              </a:lnSpc>
            </a:pPr>
            <a:r>
              <a:rPr lang="en-US" sz="6718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SEGURANÇA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484140" y="2389324"/>
            <a:ext cx="3030111" cy="2705063"/>
          </a:xfrm>
          <a:custGeom>
            <a:avLst/>
            <a:gdLst/>
            <a:ahLst/>
            <a:cxnLst/>
            <a:rect r="r" b="b" t="t" l="l"/>
            <a:pathLst>
              <a:path h="2705063" w="3030111">
                <a:moveTo>
                  <a:pt x="0" y="0"/>
                </a:moveTo>
                <a:lnTo>
                  <a:pt x="3030111" y="0"/>
                </a:lnTo>
                <a:lnTo>
                  <a:pt x="3030111" y="2705063"/>
                </a:lnTo>
                <a:lnTo>
                  <a:pt x="0" y="27050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314215" y="2813114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440226" y="2389324"/>
            <a:ext cx="2695226" cy="2705063"/>
          </a:xfrm>
          <a:custGeom>
            <a:avLst/>
            <a:gdLst/>
            <a:ahLst/>
            <a:cxnLst/>
            <a:rect r="r" b="b" t="t" l="l"/>
            <a:pathLst>
              <a:path h="2705063" w="2695226">
                <a:moveTo>
                  <a:pt x="0" y="0"/>
                </a:moveTo>
                <a:lnTo>
                  <a:pt x="2695226" y="0"/>
                </a:lnTo>
                <a:lnTo>
                  <a:pt x="2695226" y="2705063"/>
                </a:lnTo>
                <a:lnTo>
                  <a:pt x="0" y="27050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109932" y="6274842"/>
            <a:ext cx="3710405" cy="2736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Dra. Verônica atua na gestão pública e precisa de informações em tempo real para responder rapidamente a emergências e melhorar a segurança urbana. Ela procura uma solução que aproveite a infraestrutura de câmeras já instalada, gere dados estatísticos para apoiar decisões e respeite a LGPD, contribuindo para uma cidade mais segura e inteligente com baixo custo de implantação.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024518" y="6274435"/>
            <a:ext cx="4393362" cy="2983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Nal é um morador que vive em uma região considerada insegura e busca mais proteção no dia a dia, especialmente por possuir problemas de saúde. Ele sente ansiedade e insegurança ao circular pelas ruas e deseja uma solução que permita acionar rapidamente as autoridades e garantir respostas mais ágeis em situações de emergência. Influenciado por relatos de violência e pela preocupação de familiares, acredita que um monitoramento inteligente pode aumentar sua sensação de segurança e qualidade de vida.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4056135" y="-3559748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790412" y="2389324"/>
            <a:ext cx="2705063" cy="2705063"/>
          </a:xfrm>
          <a:custGeom>
            <a:avLst/>
            <a:gdLst/>
            <a:ahLst/>
            <a:cxnLst/>
            <a:rect r="r" b="b" t="t" l="l"/>
            <a:pathLst>
              <a:path h="2705063" w="2705063">
                <a:moveTo>
                  <a:pt x="0" y="0"/>
                </a:moveTo>
                <a:lnTo>
                  <a:pt x="2705063" y="0"/>
                </a:lnTo>
                <a:lnTo>
                  <a:pt x="2705063" y="2705063"/>
                </a:lnTo>
                <a:lnTo>
                  <a:pt x="0" y="270506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823547" y="256432"/>
            <a:ext cx="6640906" cy="1610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0"/>
              </a:lnSpc>
            </a:pPr>
            <a:r>
              <a:rPr lang="en-US" sz="9734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CLIENTES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70120" y="6398667"/>
            <a:ext cx="3843992" cy="2488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Rafael é responsável pela segurança de condomínios e estabelecimentos comerciais. Seu maior desafio é garantir a proteção de pessoas e patrimônios sem sobrecarregar a equipe de vigilância. Ele busca uma solução que reduza falsos alarmes, automatize relatórios e se integre a sistemas já existentes, aumentando a eficiência e justificando os investimentos em segurança.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252772" y="5241924"/>
            <a:ext cx="3070132" cy="559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b="true" sz="30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Rafael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257049" y="5744210"/>
            <a:ext cx="3070132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b="true" sz="1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35 a 50 anos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430068" y="5241924"/>
            <a:ext cx="3070132" cy="559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b="true" sz="30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Dra. Verônica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484140" y="5744210"/>
            <a:ext cx="3070132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b="true" sz="1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40 a 60 anos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607878" y="5241924"/>
            <a:ext cx="3070132" cy="559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b="true" sz="30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Dra. Verônica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607878" y="5744210"/>
            <a:ext cx="3070132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b="true" sz="1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40 a 60 anos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717143" y="1271841"/>
            <a:ext cx="2853714" cy="44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8"/>
              </a:lnSpc>
              <a:spcBef>
                <a:spcPct val="0"/>
              </a:spcBef>
            </a:pPr>
            <a:r>
              <a:rPr lang="en-US" b="true" sz="2455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Segurança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8962329" y="1812071"/>
            <a:ext cx="363341" cy="363341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812571" y="4961829"/>
            <a:ext cx="363341" cy="363341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113837" y="4961829"/>
            <a:ext cx="363341" cy="363341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701420" y="4885629"/>
            <a:ext cx="2853714" cy="44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8"/>
              </a:lnSpc>
              <a:spcBef>
                <a:spcPct val="0"/>
              </a:spcBef>
            </a:pPr>
            <a:r>
              <a:rPr lang="en-US" b="true" sz="2455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Analise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734354" y="4885629"/>
            <a:ext cx="2853714" cy="44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8"/>
              </a:lnSpc>
              <a:spcBef>
                <a:spcPct val="0"/>
              </a:spcBef>
            </a:pPr>
            <a:r>
              <a:rPr lang="en-US" b="true" sz="2455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Automação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8962329" y="8109012"/>
            <a:ext cx="363341" cy="363341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7717143" y="8672378"/>
            <a:ext cx="2853714" cy="44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8"/>
              </a:lnSpc>
              <a:spcBef>
                <a:spcPct val="0"/>
              </a:spcBef>
            </a:pPr>
            <a:r>
              <a:rPr lang="en-US" b="true" sz="2455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Desenvolvimento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933880" y="1754921"/>
            <a:ext cx="3236113" cy="610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0"/>
              </a:lnSpc>
            </a:pPr>
            <a:r>
              <a:rPr lang="en-US" sz="16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Nosso sistema e focado nos seguintes aspectos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734354" y="7175770"/>
            <a:ext cx="3853241" cy="933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37"/>
              </a:lnSpc>
            </a:pPr>
            <a:r>
              <a:rPr lang="en-US" sz="6405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VISION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5994241" y="1993741"/>
            <a:ext cx="6299517" cy="6299517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417382" y="6364711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057650" y="-3472069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93964" y="2657475"/>
            <a:ext cx="11635266" cy="10662135"/>
          </a:xfrm>
          <a:custGeom>
            <a:avLst/>
            <a:gdLst/>
            <a:ahLst/>
            <a:cxnLst/>
            <a:rect r="r" b="b" t="t" l="l"/>
            <a:pathLst>
              <a:path h="10662135" w="11635266">
                <a:moveTo>
                  <a:pt x="0" y="0"/>
                </a:moveTo>
                <a:lnTo>
                  <a:pt x="11635266" y="0"/>
                </a:lnTo>
                <a:lnTo>
                  <a:pt x="11635266" y="10662135"/>
                </a:lnTo>
                <a:lnTo>
                  <a:pt x="0" y="106621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2102922" y="3454229"/>
            <a:ext cx="4494934" cy="4411405"/>
            <a:chOff x="0" y="0"/>
            <a:chExt cx="1183851" cy="116185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83851" cy="1161852"/>
            </a:xfrm>
            <a:custGeom>
              <a:avLst/>
              <a:gdLst/>
              <a:ahLst/>
              <a:cxnLst/>
              <a:rect r="r" b="b" t="t" l="l"/>
              <a:pathLst>
                <a:path h="1161852" w="1183851">
                  <a:moveTo>
                    <a:pt x="91285" y="0"/>
                  </a:moveTo>
                  <a:lnTo>
                    <a:pt x="1092565" y="0"/>
                  </a:lnTo>
                  <a:cubicBezTo>
                    <a:pt x="1116776" y="0"/>
                    <a:pt x="1139995" y="9618"/>
                    <a:pt x="1157114" y="26737"/>
                  </a:cubicBezTo>
                  <a:cubicBezTo>
                    <a:pt x="1174233" y="43856"/>
                    <a:pt x="1183851" y="67075"/>
                    <a:pt x="1183851" y="91285"/>
                  </a:cubicBezTo>
                  <a:lnTo>
                    <a:pt x="1183851" y="1070566"/>
                  </a:lnTo>
                  <a:cubicBezTo>
                    <a:pt x="1183851" y="1094777"/>
                    <a:pt x="1174233" y="1117995"/>
                    <a:pt x="1157114" y="1135115"/>
                  </a:cubicBezTo>
                  <a:cubicBezTo>
                    <a:pt x="1139995" y="1152234"/>
                    <a:pt x="1116776" y="1161852"/>
                    <a:pt x="1092565" y="1161852"/>
                  </a:cubicBezTo>
                  <a:lnTo>
                    <a:pt x="91285" y="1161852"/>
                  </a:lnTo>
                  <a:cubicBezTo>
                    <a:pt x="67075" y="1161852"/>
                    <a:pt x="43856" y="1152234"/>
                    <a:pt x="26737" y="1135115"/>
                  </a:cubicBezTo>
                  <a:cubicBezTo>
                    <a:pt x="9618" y="1117995"/>
                    <a:pt x="0" y="1094777"/>
                    <a:pt x="0" y="1070566"/>
                  </a:cubicBezTo>
                  <a:lnTo>
                    <a:pt x="0" y="91285"/>
                  </a:lnTo>
                  <a:cubicBezTo>
                    <a:pt x="0" y="67075"/>
                    <a:pt x="9618" y="43856"/>
                    <a:pt x="26737" y="26737"/>
                  </a:cubicBezTo>
                  <a:cubicBezTo>
                    <a:pt x="43856" y="9618"/>
                    <a:pt x="67075" y="0"/>
                    <a:pt x="91285" y="0"/>
                  </a:cubicBezTo>
                  <a:close/>
                </a:path>
              </a:pathLst>
            </a:custGeom>
            <a:solidFill>
              <a:srgbClr val="121212"/>
            </a:solidFill>
            <a:ln w="952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1183851" cy="12285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2439634" y="3764917"/>
            <a:ext cx="3804112" cy="3804112"/>
          </a:xfrm>
          <a:custGeom>
            <a:avLst/>
            <a:gdLst/>
            <a:ahLst/>
            <a:cxnLst/>
            <a:rect r="r" b="b" t="t" l="l"/>
            <a:pathLst>
              <a:path h="3804112" w="3804112">
                <a:moveTo>
                  <a:pt x="0" y="0"/>
                </a:moveTo>
                <a:lnTo>
                  <a:pt x="3804112" y="0"/>
                </a:lnTo>
                <a:lnTo>
                  <a:pt x="3804112" y="3804112"/>
                </a:lnTo>
                <a:lnTo>
                  <a:pt x="0" y="380411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1432779" y="2839635"/>
            <a:ext cx="5817821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VISION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432779" y="2282190"/>
            <a:ext cx="5817821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PARA MAIS INFORMAÇOES, VISITE O SITE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875015" y="542925"/>
            <a:ext cx="9201150" cy="9201150"/>
          </a:xfrm>
          <a:custGeom>
            <a:avLst/>
            <a:gdLst/>
            <a:ahLst/>
            <a:cxnLst/>
            <a:rect r="r" b="b" t="t" l="l"/>
            <a:pathLst>
              <a:path h="9201150" w="9201150">
                <a:moveTo>
                  <a:pt x="0" y="0"/>
                </a:moveTo>
                <a:lnTo>
                  <a:pt x="9201150" y="0"/>
                </a:lnTo>
                <a:lnTo>
                  <a:pt x="9201150" y="9201150"/>
                </a:lnTo>
                <a:lnTo>
                  <a:pt x="0" y="92011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578375">
            <a:off x="8323700" y="-4291982"/>
            <a:ext cx="15959856" cy="8583964"/>
          </a:xfrm>
          <a:custGeom>
            <a:avLst/>
            <a:gdLst/>
            <a:ahLst/>
            <a:cxnLst/>
            <a:rect r="r" b="b" t="t" l="l"/>
            <a:pathLst>
              <a:path h="8583964" w="15959856">
                <a:moveTo>
                  <a:pt x="0" y="0"/>
                </a:moveTo>
                <a:lnTo>
                  <a:pt x="15959857" y="0"/>
                </a:lnTo>
                <a:lnTo>
                  <a:pt x="15959857" y="8583964"/>
                </a:lnTo>
                <a:lnTo>
                  <a:pt x="0" y="85839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869618" y="5424681"/>
            <a:ext cx="10548764" cy="389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3"/>
              </a:lnSpc>
            </a:pPr>
            <a:r>
              <a:rPr lang="en-US" sz="2295" u="sng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EMERGENCIAS ACONTECEM EM SEGUNDOS; A RESPOSTA TAMBÉM DEVE ACONTECER.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484950" y="6160443"/>
            <a:ext cx="5318100" cy="600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36"/>
              </a:lnSpc>
            </a:pPr>
            <a:r>
              <a:rPr lang="en-US" sz="3200" spc="7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VION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1366517">
            <a:off x="-1768901" y="4979430"/>
            <a:ext cx="12307770" cy="7200900"/>
          </a:xfrm>
          <a:custGeom>
            <a:avLst/>
            <a:gdLst/>
            <a:ahLst/>
            <a:cxnLst/>
            <a:rect r="r" b="b" t="t" l="l"/>
            <a:pathLst>
              <a:path h="7200900" w="12307770">
                <a:moveTo>
                  <a:pt x="0" y="0"/>
                </a:moveTo>
                <a:lnTo>
                  <a:pt x="12307770" y="0"/>
                </a:lnTo>
                <a:lnTo>
                  <a:pt x="12307770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869618" y="4311409"/>
            <a:ext cx="10548764" cy="1160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13"/>
              </a:lnSpc>
            </a:pPr>
            <a:r>
              <a:rPr lang="en-US" sz="6795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MUITO OBRIGADO PELA ATENÇÃO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619233" y="5476190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561318" y="158396"/>
            <a:ext cx="6532692" cy="7879344"/>
          </a:xfrm>
          <a:custGeom>
            <a:avLst/>
            <a:gdLst/>
            <a:ahLst/>
            <a:cxnLst/>
            <a:rect r="r" b="b" t="t" l="l"/>
            <a:pathLst>
              <a:path h="7879344" w="6532692">
                <a:moveTo>
                  <a:pt x="0" y="0"/>
                </a:moveTo>
                <a:lnTo>
                  <a:pt x="6532692" y="0"/>
                </a:lnTo>
                <a:lnTo>
                  <a:pt x="6532692" y="7879343"/>
                </a:lnTo>
                <a:lnTo>
                  <a:pt x="0" y="78793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9437995" y="5864334"/>
            <a:ext cx="6532692" cy="7879344"/>
          </a:xfrm>
          <a:custGeom>
            <a:avLst/>
            <a:gdLst/>
            <a:ahLst/>
            <a:cxnLst/>
            <a:rect r="r" b="b" t="t" l="l"/>
            <a:pathLst>
              <a:path h="7879344" w="6532692">
                <a:moveTo>
                  <a:pt x="0" y="7879343"/>
                </a:moveTo>
                <a:lnTo>
                  <a:pt x="6532692" y="7879343"/>
                </a:lnTo>
                <a:lnTo>
                  <a:pt x="6532692" y="0"/>
                </a:lnTo>
                <a:lnTo>
                  <a:pt x="0" y="0"/>
                </a:lnTo>
                <a:lnTo>
                  <a:pt x="0" y="787934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992635" y="6214885"/>
            <a:ext cx="8151365" cy="3043415"/>
            <a:chOff x="0" y="0"/>
            <a:chExt cx="2146862" cy="8015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46862" cy="801558"/>
            </a:xfrm>
            <a:custGeom>
              <a:avLst/>
              <a:gdLst/>
              <a:ahLst/>
              <a:cxnLst/>
              <a:rect r="r" b="b" t="t" l="l"/>
              <a:pathLst>
                <a:path h="801558" w="2146862">
                  <a:moveTo>
                    <a:pt x="9498" y="0"/>
                  </a:moveTo>
                  <a:lnTo>
                    <a:pt x="2137364" y="0"/>
                  </a:lnTo>
                  <a:cubicBezTo>
                    <a:pt x="2142609" y="0"/>
                    <a:pt x="2146862" y="4252"/>
                    <a:pt x="2146862" y="9498"/>
                  </a:cubicBezTo>
                  <a:lnTo>
                    <a:pt x="2146862" y="792060"/>
                  </a:lnTo>
                  <a:cubicBezTo>
                    <a:pt x="2146862" y="797306"/>
                    <a:pt x="2142609" y="801558"/>
                    <a:pt x="2137364" y="801558"/>
                  </a:cubicBezTo>
                  <a:lnTo>
                    <a:pt x="9498" y="801558"/>
                  </a:lnTo>
                  <a:cubicBezTo>
                    <a:pt x="4252" y="801558"/>
                    <a:pt x="0" y="797306"/>
                    <a:pt x="0" y="792060"/>
                  </a:cubicBezTo>
                  <a:lnTo>
                    <a:pt x="0" y="9498"/>
                  </a:lnTo>
                  <a:cubicBezTo>
                    <a:pt x="0" y="4252"/>
                    <a:pt x="4252" y="0"/>
                    <a:pt x="9498" y="0"/>
                  </a:cubicBezTo>
                  <a:close/>
                </a:path>
              </a:pathLst>
            </a:custGeom>
            <a:solidFill>
              <a:srgbClr val="000000"/>
            </a:solidFill>
            <a:ln w="285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2146862" cy="8682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13658" y="895350"/>
            <a:ext cx="7083240" cy="3001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1000"/>
              </a:lnSpc>
            </a:pPr>
            <a:r>
              <a:rPr lang="en-US" sz="9734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REFERENCIA BIBLIGRAFICA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33143" y="6483473"/>
            <a:ext cx="7001684" cy="690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86769" indent="-143385" lvl="1">
              <a:lnSpc>
                <a:spcPts val="1859"/>
              </a:lnSpc>
              <a:buFont typeface="Arial"/>
              <a:buChar char="•"/>
            </a:pPr>
            <a:r>
              <a:rPr lang="en-US" sz="1328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https://www.bemparana.com.br/noticias/parana/samu-parana-recebeu-mais-de-12-milhao-de-chamadas-em-2025-veja-as-principais-ocorrencias/?utm_source=chatgpt.com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33143" y="7497485"/>
            <a:ext cx="7001684" cy="232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86769" indent="-143385" lvl="1">
              <a:lnSpc>
                <a:spcPts val="1859"/>
              </a:lnSpc>
              <a:buFont typeface="Arial"/>
              <a:buChar char="•"/>
            </a:pPr>
            <a:r>
              <a:rPr lang="en-US" sz="1328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https://pubmed.ncbi.nlm.nih.gov/38198335/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33143" y="8086383"/>
            <a:ext cx="7001684" cy="690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86769" indent="-143385" lvl="1">
              <a:lnSpc>
                <a:spcPts val="1859"/>
              </a:lnSpc>
              <a:buFont typeface="Arial"/>
              <a:buChar char="•"/>
            </a:pPr>
            <a:r>
              <a:rPr lang="en-US" sz="1328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https://www.ba.gov.br/seplan/sites/site-seplan/files/2025-07/Anuário%20Brasileiro%20de%20Segurança%20Pública%202024.pdf?utm_source=chatgpt.com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09602" y="3999545"/>
            <a:ext cx="5536172" cy="1782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59"/>
              </a:lnSpc>
            </a:pPr>
            <a:r>
              <a:rPr lang="en-US" sz="3328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Todas as referencias bibliograficas usadas no slide.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DAHNZmpui8o</dc:identifier>
  <dcterms:modified xsi:type="dcterms:W3CDTF">2011-08-01T06:04:30Z</dcterms:modified>
  <cp:revision>1</cp:revision>
  <dc:title>Black and White Modern Tech Company Presentation</dc:title>
</cp:coreProperties>
</file>