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mpact" charset="1" panose="020B0806030902050204"/>
      <p:regular r:id="rId19"/>
    </p:embeddedFont>
    <p:embeddedFont>
      <p:font typeface="Poppins" charset="1" panose="00000500000000000000"/>
      <p:regular r:id="rId20"/>
    </p:embeddedFont>
    <p:embeddedFont>
      <p:font typeface="Poppins Italics" charset="1" panose="00000500000000000000"/>
      <p:regular r:id="rId21"/>
    </p:embeddedFont>
    <p:embeddedFont>
      <p:font typeface="Open Sans" charset="1" panose="020B0606030504020204"/>
      <p:regular r:id="rId22"/>
    </p:embeddedFont>
    <p:embeddedFont>
      <p:font typeface="Poppins Bold" charset="1" panose="00000800000000000000"/>
      <p:regular r:id="rId23"/>
    </p:embeddedFont>
    <p:embeddedFont>
      <p:font typeface="Poppins Medium" charset="1" panose="00000600000000000000"/>
      <p:regular r:id="rId24"/>
    </p:embeddedFont>
    <p:embeddedFont>
      <p:font typeface="Anton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3177211"/>
            <a:ext cx="14319257" cy="284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04405" y="6103530"/>
            <a:ext cx="7879189" cy="120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CAMERA QUE PROPAGA A SEGURANÇA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7079" y="1600342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0626" y="4434308"/>
            <a:ext cx="6356340" cy="13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 lenta de ocorrências de risco e emergência.</a:t>
            </a:r>
          </a:p>
          <a:p>
            <a:pPr algn="just">
              <a:lnSpc>
                <a:spcPts val="36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40626" y="2425131"/>
            <a:ext cx="7722254" cy="127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2"/>
              </a:lnSpc>
            </a:pPr>
            <a:r>
              <a:rPr lang="en-US" sz="41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IDENTIFICAÇÃO LENTA DE OCORRÊNCIAS DE RISCO E EMERGÊNCIA.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7345" y="102870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45489" y="3708094"/>
            <a:ext cx="7281133" cy="515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5"/>
              </a:lnSpc>
            </a:pPr>
            <a:r>
              <a:rPr lang="en-US" sz="24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Acidentes podem ocorrer a qualquer momento em ambientes urbanos, industriais e de trabalho. A demora na identificação dessas ocorrências pode aumentar os riscos às pessoas e os prejuízos causados. Pensando nisso, este projeto propõe um sistema de monitoramento baseado em Inteligência Artificial e Visão Computacional, capaz de detectar acidentes em tempo real e acionar automaticamente os responsáveis pela área, contribuindo para uma resposta mais rápida e eficiente em situações de emergência.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5716" y="2014709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08800" y="9201150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1340630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2935580"/>
            <a:ext cx="10445016" cy="594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Bahia liderou o número de mortes violentas em 2023. </a:t>
            </a:r>
          </a:p>
          <a:p>
            <a:pPr algn="ctr">
              <a:lnSpc>
                <a:spcPts val="3621"/>
              </a:lnSpc>
            </a:pPr>
          </a:p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Mais de 724 mil acidentes de trabalho foram registrados no Brasil em 2024.</a:t>
            </a:r>
          </a:p>
          <a:p>
            <a:pPr algn="ctr">
              <a:lnSpc>
                <a:spcPts val="3621"/>
              </a:lnSpc>
            </a:pPr>
          </a:p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Apenas no Paraná, o SAMU recebeu mais de 1,2 milhão de ligações em 2025, incluindo ocorrências traumáticas como acidentes de trânsito e quedas.</a:t>
            </a:r>
          </a:p>
          <a:p>
            <a:pPr algn="ctr">
              <a:lnSpc>
                <a:spcPts val="3621"/>
              </a:lnSpc>
            </a:pPr>
          </a:p>
          <a:p>
            <a:pPr algn="ctr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Estudos nacionais indicam que, em média, são realizadas 109,8 chamadas para o SAMU a cada 1.000 habitantes cobertos por ano.</a:t>
            </a:r>
          </a:p>
          <a:p>
            <a:pPr algn="ctr">
              <a:lnSpc>
                <a:spcPts val="36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094812" y="895350"/>
            <a:ext cx="1009837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DADOS DO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5829" y="8663939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1014481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2647950"/>
            <a:ext cx="10445016" cy="54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projeto propõe o desenvolvimento de um sistema de monitoramento inteligente baseado em Inteligência Artificial e Visão Computacional, capaz de identificar automaticamente acidentes em tempo real por meio de câmeras.</a:t>
            </a:r>
          </a:p>
          <a:p>
            <a:pPr algn="ctr">
              <a:lnSpc>
                <a:spcPts val="3621"/>
              </a:lnSpc>
            </a:pPr>
          </a:p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Ao detectar uma situação de emergência, o sistema envia alertas imediatos aos responsáveis pela área, permitindo uma resposta rápida e reduzindo o tempo de atendimento. Dessa forma, a solução contribui para aumentar a segurança em ambientes urbanos, industriais e de trabalho, minimizando riscos e prejuízos.</a:t>
            </a:r>
          </a:p>
          <a:p>
            <a:pPr algn="ctr">
              <a:lnSpc>
                <a:spcPts val="36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23547" y="895350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SOLUÇÃO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5089" y="8652573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21853" y="2089310"/>
            <a:ext cx="2948680" cy="2959442"/>
          </a:xfrm>
          <a:custGeom>
            <a:avLst/>
            <a:gdLst/>
            <a:ahLst/>
            <a:cxnLst/>
            <a:rect r="r" b="b" t="t" l="l"/>
            <a:pathLst>
              <a:path h="2959442" w="2948680">
                <a:moveTo>
                  <a:pt x="0" y="0"/>
                </a:moveTo>
                <a:lnTo>
                  <a:pt x="2948680" y="0"/>
                </a:lnTo>
                <a:lnTo>
                  <a:pt x="2948680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6508" y="-938824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967073" y="2904110"/>
            <a:ext cx="3528040" cy="663420"/>
            <a:chOff x="0" y="0"/>
            <a:chExt cx="1244945" cy="2341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4945" cy="234102"/>
            </a:xfrm>
            <a:custGeom>
              <a:avLst/>
              <a:gdLst/>
              <a:ahLst/>
              <a:cxnLst/>
              <a:rect r="r" b="b" t="t" l="l"/>
              <a:pathLst>
                <a:path h="234102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177048"/>
                  </a:lnTo>
                  <a:cubicBezTo>
                    <a:pt x="1244945" y="208558"/>
                    <a:pt x="1219401" y="234102"/>
                    <a:pt x="1187890" y="234102"/>
                  </a:cubicBezTo>
                  <a:lnTo>
                    <a:pt x="57054" y="234102"/>
                  </a:lnTo>
                  <a:cubicBezTo>
                    <a:pt x="25544" y="234102"/>
                    <a:pt x="0" y="208558"/>
                    <a:pt x="0" y="177048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4945" cy="3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Inicio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67073" y="4008537"/>
            <a:ext cx="3528040" cy="663420"/>
            <a:chOff x="0" y="0"/>
            <a:chExt cx="1244945" cy="2341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4945" cy="234102"/>
            </a:xfrm>
            <a:custGeom>
              <a:avLst/>
              <a:gdLst/>
              <a:ahLst/>
              <a:cxnLst/>
              <a:rect r="r" b="b" t="t" l="l"/>
              <a:pathLst>
                <a:path h="234102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177048"/>
                  </a:lnTo>
                  <a:cubicBezTo>
                    <a:pt x="1244945" y="208558"/>
                    <a:pt x="1219401" y="234102"/>
                    <a:pt x="1187890" y="234102"/>
                  </a:cubicBezTo>
                  <a:lnTo>
                    <a:pt x="57054" y="234102"/>
                  </a:lnTo>
                  <a:cubicBezTo>
                    <a:pt x="25544" y="234102"/>
                    <a:pt x="0" y="208558"/>
                    <a:pt x="0" y="177048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244945" cy="3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Acessar a Camera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67073" y="5112964"/>
            <a:ext cx="3528040" cy="663420"/>
            <a:chOff x="0" y="0"/>
            <a:chExt cx="1244945" cy="2341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4945" cy="234102"/>
            </a:xfrm>
            <a:custGeom>
              <a:avLst/>
              <a:gdLst/>
              <a:ahLst/>
              <a:cxnLst/>
              <a:rect r="r" b="b" t="t" l="l"/>
              <a:pathLst>
                <a:path h="234102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177048"/>
                  </a:lnTo>
                  <a:cubicBezTo>
                    <a:pt x="1244945" y="208558"/>
                    <a:pt x="1219401" y="234102"/>
                    <a:pt x="1187890" y="234102"/>
                  </a:cubicBezTo>
                  <a:lnTo>
                    <a:pt x="57054" y="234102"/>
                  </a:lnTo>
                  <a:cubicBezTo>
                    <a:pt x="25544" y="234102"/>
                    <a:pt x="0" y="208558"/>
                    <a:pt x="0" y="177048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44945" cy="3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YOLO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96603" y="6061673"/>
            <a:ext cx="2068979" cy="2068979"/>
          </a:xfrm>
          <a:custGeom>
            <a:avLst/>
            <a:gdLst/>
            <a:ahLst/>
            <a:cxnLst/>
            <a:rect r="r" b="b" t="t" l="l"/>
            <a:pathLst>
              <a:path h="2068979" w="2068979">
                <a:moveTo>
                  <a:pt x="0" y="0"/>
                </a:moveTo>
                <a:lnTo>
                  <a:pt x="2068979" y="0"/>
                </a:lnTo>
                <a:lnTo>
                  <a:pt x="2068979" y="2068979"/>
                </a:lnTo>
                <a:lnTo>
                  <a:pt x="0" y="2068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3169974" y="895350"/>
            <a:ext cx="11948052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FLUXOGRAMA DO PROJETO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43626" y="8384756"/>
            <a:ext cx="3528040" cy="728575"/>
            <a:chOff x="0" y="0"/>
            <a:chExt cx="1244945" cy="2570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4945" cy="257093"/>
            </a:xfrm>
            <a:custGeom>
              <a:avLst/>
              <a:gdLst/>
              <a:ahLst/>
              <a:cxnLst/>
              <a:rect r="r" b="b" t="t" l="l"/>
              <a:pathLst>
                <a:path h="257093" w="1244945">
                  <a:moveTo>
                    <a:pt x="57054" y="0"/>
                  </a:moveTo>
                  <a:lnTo>
                    <a:pt x="1187890" y="0"/>
                  </a:lnTo>
                  <a:cubicBezTo>
                    <a:pt x="1219401" y="0"/>
                    <a:pt x="1244945" y="25544"/>
                    <a:pt x="1244945" y="57054"/>
                  </a:cubicBezTo>
                  <a:lnTo>
                    <a:pt x="1244945" y="200039"/>
                  </a:lnTo>
                  <a:cubicBezTo>
                    <a:pt x="1244945" y="231549"/>
                    <a:pt x="1219401" y="257093"/>
                    <a:pt x="1187890" y="257093"/>
                  </a:cubicBezTo>
                  <a:lnTo>
                    <a:pt x="57054" y="257093"/>
                  </a:lnTo>
                  <a:cubicBezTo>
                    <a:pt x="25544" y="257093"/>
                    <a:pt x="0" y="231549"/>
                    <a:pt x="0" y="200039"/>
                  </a:cubicBezTo>
                  <a:lnTo>
                    <a:pt x="0" y="57054"/>
                  </a:lnTo>
                  <a:cubicBezTo>
                    <a:pt x="0" y="25544"/>
                    <a:pt x="25544" y="0"/>
                    <a:pt x="57054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292A29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44945" cy="304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Acionar responsaveis emergenciais ou autoridades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8731093" y="3567529"/>
            <a:ext cx="0" cy="22543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H="true">
            <a:off x="8731093" y="4671956"/>
            <a:ext cx="0" cy="2733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H="true">
            <a:off x="8731093" y="5776383"/>
            <a:ext cx="0" cy="28529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H="true">
            <a:off x="9765582" y="7096163"/>
            <a:ext cx="15420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1307646" y="7096163"/>
            <a:ext cx="0" cy="103449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6205069" y="8716466"/>
            <a:ext cx="3338557" cy="3257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6205069" y="7372728"/>
            <a:ext cx="0" cy="134373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6181074" y="7087055"/>
            <a:ext cx="1515530" cy="910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6205069" y="5444673"/>
            <a:ext cx="0" cy="164238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6205069" y="5444673"/>
            <a:ext cx="42606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7588881" y="6861773"/>
            <a:ext cx="2284424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Detectou uma ação emergencial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917609" y="578077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27695" y="4488620"/>
            <a:ext cx="1471384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X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502228" y="523318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2"/>
                </a:lnTo>
                <a:lnTo>
                  <a:pt x="0" y="805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8697" y="2346062"/>
            <a:ext cx="5362624" cy="6488203"/>
            <a:chOff x="0" y="0"/>
            <a:chExt cx="1412378" cy="17088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2378" cy="1708827"/>
            </a:xfrm>
            <a:custGeom>
              <a:avLst/>
              <a:gdLst/>
              <a:ahLst/>
              <a:cxnLst/>
              <a:rect r="r" b="b" t="t" l="l"/>
              <a:pathLst>
                <a:path h="1708827" w="1412378">
                  <a:moveTo>
                    <a:pt x="63522" y="0"/>
                  </a:moveTo>
                  <a:lnTo>
                    <a:pt x="1348856" y="0"/>
                  </a:lnTo>
                  <a:cubicBezTo>
                    <a:pt x="1383939" y="0"/>
                    <a:pt x="1412378" y="28440"/>
                    <a:pt x="1412378" y="63522"/>
                  </a:cubicBezTo>
                  <a:lnTo>
                    <a:pt x="1412378" y="1645305"/>
                  </a:lnTo>
                  <a:cubicBezTo>
                    <a:pt x="1412378" y="1662152"/>
                    <a:pt x="1405686" y="1678309"/>
                    <a:pt x="1393773" y="1690222"/>
                  </a:cubicBezTo>
                  <a:cubicBezTo>
                    <a:pt x="1381861" y="1702135"/>
                    <a:pt x="1365703" y="1708827"/>
                    <a:pt x="1348856" y="1708827"/>
                  </a:cubicBezTo>
                  <a:lnTo>
                    <a:pt x="63522" y="1708827"/>
                  </a:lnTo>
                  <a:cubicBezTo>
                    <a:pt x="46675" y="1708827"/>
                    <a:pt x="30518" y="1702135"/>
                    <a:pt x="18605" y="1690222"/>
                  </a:cubicBezTo>
                  <a:cubicBezTo>
                    <a:pt x="6692" y="1678309"/>
                    <a:pt x="0" y="1662152"/>
                    <a:pt x="0" y="1645305"/>
                  </a:cubicBezTo>
                  <a:lnTo>
                    <a:pt x="0" y="63522"/>
                  </a:lnTo>
                  <a:cubicBezTo>
                    <a:pt x="0" y="46675"/>
                    <a:pt x="6692" y="30518"/>
                    <a:pt x="18605" y="18605"/>
                  </a:cubicBezTo>
                  <a:cubicBezTo>
                    <a:pt x="30518" y="6692"/>
                    <a:pt x="46675" y="0"/>
                    <a:pt x="63522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412378" cy="1775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65556" y="9201150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5452" y="2346062"/>
            <a:ext cx="5362624" cy="6488203"/>
            <a:chOff x="0" y="0"/>
            <a:chExt cx="1412378" cy="17088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2378" cy="1708827"/>
            </a:xfrm>
            <a:custGeom>
              <a:avLst/>
              <a:gdLst/>
              <a:ahLst/>
              <a:cxnLst/>
              <a:rect r="r" b="b" t="t" l="l"/>
              <a:pathLst>
                <a:path h="1708827" w="1412378">
                  <a:moveTo>
                    <a:pt x="63522" y="0"/>
                  </a:moveTo>
                  <a:lnTo>
                    <a:pt x="1348856" y="0"/>
                  </a:lnTo>
                  <a:cubicBezTo>
                    <a:pt x="1383939" y="0"/>
                    <a:pt x="1412378" y="28440"/>
                    <a:pt x="1412378" y="63522"/>
                  </a:cubicBezTo>
                  <a:lnTo>
                    <a:pt x="1412378" y="1645305"/>
                  </a:lnTo>
                  <a:cubicBezTo>
                    <a:pt x="1412378" y="1662152"/>
                    <a:pt x="1405686" y="1678309"/>
                    <a:pt x="1393773" y="1690222"/>
                  </a:cubicBezTo>
                  <a:cubicBezTo>
                    <a:pt x="1381861" y="1702135"/>
                    <a:pt x="1365703" y="1708827"/>
                    <a:pt x="1348856" y="1708827"/>
                  </a:cubicBezTo>
                  <a:lnTo>
                    <a:pt x="63522" y="1708827"/>
                  </a:lnTo>
                  <a:cubicBezTo>
                    <a:pt x="46675" y="1708827"/>
                    <a:pt x="30518" y="1702135"/>
                    <a:pt x="18605" y="1690222"/>
                  </a:cubicBezTo>
                  <a:cubicBezTo>
                    <a:pt x="6692" y="1678309"/>
                    <a:pt x="0" y="1662152"/>
                    <a:pt x="0" y="1645305"/>
                  </a:cubicBezTo>
                  <a:lnTo>
                    <a:pt x="0" y="63522"/>
                  </a:lnTo>
                  <a:cubicBezTo>
                    <a:pt x="0" y="46675"/>
                    <a:pt x="6692" y="30518"/>
                    <a:pt x="18605" y="18605"/>
                  </a:cubicBezTo>
                  <a:cubicBezTo>
                    <a:pt x="30518" y="6692"/>
                    <a:pt x="46675" y="0"/>
                    <a:pt x="63522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12378" cy="1775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524171" y="2457972"/>
            <a:ext cx="4165186" cy="101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2"/>
              </a:lnSpc>
            </a:pPr>
            <a:r>
              <a:rPr lang="en-US" sz="61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37416" y="2457972"/>
            <a:ext cx="4165186" cy="101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2"/>
              </a:lnSpc>
            </a:pPr>
            <a:r>
              <a:rPr lang="en-US" sz="613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SOLUÇOES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9243" y="3417389"/>
            <a:ext cx="3715043" cy="100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Demora para a chamada da emergência em ambientes ou horarios de pouco movimento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62487" y="3417389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Acionar emergencias em qualquer horario ou ambiente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74315" y="5086350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Chamada errada da autoridade ou emergencia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2487" y="4660624"/>
            <a:ext cx="3715043" cy="134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que já tem o numero no sistema para maior desempenho e segurança pela vida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2487" y="6546651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videos das cameras serão gravados 24h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49243" y="6713338"/>
            <a:ext cx="3715043" cy="67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1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motivo do acidente ou falta de provas de crimes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04618" y="5473935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5888" y="3089624"/>
            <a:ext cx="2825356" cy="109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2458" y="4281344"/>
            <a:ext cx="3492216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Empresas que preservam a segurança e o bem estar do funcionario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3610" y="2933113"/>
            <a:ext cx="2825356" cy="109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8101" y="4095606"/>
            <a:ext cx="315274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Pessoas que possuiem uma saude fragio ou tem conhecido com debilitações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4459" y="4115103"/>
            <a:ext cx="399058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Pessoas que querem mais segurança nas suas casas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27072" y="2933113"/>
            <a:ext cx="2825356" cy="109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21599" y="638825"/>
            <a:ext cx="11179725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SEGUIMENTO DE CLIENTES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741933"/>
            <a:ext cx="4159732" cy="3825830"/>
            <a:chOff x="0" y="0"/>
            <a:chExt cx="88373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3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83738">
                  <a:moveTo>
                    <a:pt x="441869" y="0"/>
                  </a:moveTo>
                  <a:cubicBezTo>
                    <a:pt x="197831" y="0"/>
                    <a:pt x="0" y="181951"/>
                    <a:pt x="0" y="406400"/>
                  </a:cubicBezTo>
                  <a:cubicBezTo>
                    <a:pt x="0" y="630849"/>
                    <a:pt x="197831" y="812800"/>
                    <a:pt x="441869" y="812800"/>
                  </a:cubicBezTo>
                  <a:cubicBezTo>
                    <a:pt x="685906" y="812800"/>
                    <a:pt x="883738" y="630849"/>
                    <a:pt x="883738" y="406400"/>
                  </a:cubicBezTo>
                  <a:cubicBezTo>
                    <a:pt x="883738" y="181951"/>
                    <a:pt x="685906" y="0"/>
                    <a:pt x="4418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82850" y="9525"/>
              <a:ext cx="718037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06422" y="2595888"/>
            <a:ext cx="4159732" cy="3825830"/>
            <a:chOff x="0" y="0"/>
            <a:chExt cx="88373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3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83738">
                  <a:moveTo>
                    <a:pt x="441869" y="0"/>
                  </a:moveTo>
                  <a:cubicBezTo>
                    <a:pt x="197831" y="0"/>
                    <a:pt x="0" y="181951"/>
                    <a:pt x="0" y="406400"/>
                  </a:cubicBezTo>
                  <a:cubicBezTo>
                    <a:pt x="0" y="630849"/>
                    <a:pt x="197831" y="812800"/>
                    <a:pt x="441869" y="812800"/>
                  </a:cubicBezTo>
                  <a:cubicBezTo>
                    <a:pt x="685906" y="812800"/>
                    <a:pt x="883738" y="630849"/>
                    <a:pt x="883738" y="406400"/>
                  </a:cubicBezTo>
                  <a:cubicBezTo>
                    <a:pt x="883738" y="181951"/>
                    <a:pt x="685906" y="0"/>
                    <a:pt x="4418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82850" y="9525"/>
              <a:ext cx="718037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380922" y="-3460452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959884" y="2425579"/>
            <a:ext cx="4159732" cy="3825830"/>
            <a:chOff x="0" y="0"/>
            <a:chExt cx="883738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3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83738">
                  <a:moveTo>
                    <a:pt x="441869" y="0"/>
                  </a:moveTo>
                  <a:cubicBezTo>
                    <a:pt x="197831" y="0"/>
                    <a:pt x="0" y="181951"/>
                    <a:pt x="0" y="406400"/>
                  </a:cubicBezTo>
                  <a:cubicBezTo>
                    <a:pt x="0" y="630849"/>
                    <a:pt x="197831" y="812800"/>
                    <a:pt x="441869" y="812800"/>
                  </a:cubicBezTo>
                  <a:cubicBezTo>
                    <a:pt x="685906" y="812800"/>
                    <a:pt x="883738" y="630849"/>
                    <a:pt x="883738" y="406400"/>
                  </a:cubicBezTo>
                  <a:cubicBezTo>
                    <a:pt x="883738" y="181951"/>
                    <a:pt x="685906" y="0"/>
                    <a:pt x="4418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82850" y="9525"/>
              <a:ext cx="718037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25262" y="8455120"/>
            <a:ext cx="5278422" cy="1312933"/>
            <a:chOff x="0" y="0"/>
            <a:chExt cx="1390202" cy="3457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0202" cy="345793"/>
            </a:xfrm>
            <a:custGeom>
              <a:avLst/>
              <a:gdLst/>
              <a:ahLst/>
              <a:cxnLst/>
              <a:rect r="r" b="b" t="t" l="l"/>
              <a:pathLst>
                <a:path h="345793" w="1390202">
                  <a:moveTo>
                    <a:pt x="146671" y="0"/>
                  </a:moveTo>
                  <a:lnTo>
                    <a:pt x="1243531" y="0"/>
                  </a:lnTo>
                  <a:cubicBezTo>
                    <a:pt x="1324535" y="0"/>
                    <a:pt x="1390202" y="65667"/>
                    <a:pt x="1390202" y="146671"/>
                  </a:cubicBezTo>
                  <a:lnTo>
                    <a:pt x="1390202" y="199122"/>
                  </a:lnTo>
                  <a:cubicBezTo>
                    <a:pt x="1390202" y="280126"/>
                    <a:pt x="1324535" y="345793"/>
                    <a:pt x="1243531" y="345793"/>
                  </a:cubicBezTo>
                  <a:lnTo>
                    <a:pt x="146671" y="345793"/>
                  </a:lnTo>
                  <a:cubicBezTo>
                    <a:pt x="65667" y="345793"/>
                    <a:pt x="0" y="280126"/>
                    <a:pt x="0" y="199122"/>
                  </a:cubicBezTo>
                  <a:lnTo>
                    <a:pt x="0" y="146671"/>
                  </a:lnTo>
                  <a:cubicBezTo>
                    <a:pt x="0" y="65667"/>
                    <a:pt x="65667" y="0"/>
                    <a:pt x="146671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90202" cy="412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2215719">
            <a:off x="3677340" y="7614552"/>
            <a:ext cx="2062415" cy="678722"/>
          </a:xfrm>
          <a:custGeom>
            <a:avLst/>
            <a:gdLst/>
            <a:ahLst/>
            <a:cxnLst/>
            <a:rect r="r" b="b" t="t" l="l"/>
            <a:pathLst>
              <a:path h="678722" w="2062415">
                <a:moveTo>
                  <a:pt x="0" y="0"/>
                </a:moveTo>
                <a:lnTo>
                  <a:pt x="2062414" y="0"/>
                </a:lnTo>
                <a:lnTo>
                  <a:pt x="2062414" y="678722"/>
                </a:lnTo>
                <a:lnTo>
                  <a:pt x="0" y="678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8534592">
            <a:off x="12757806" y="7509462"/>
            <a:ext cx="2062415" cy="678722"/>
          </a:xfrm>
          <a:custGeom>
            <a:avLst/>
            <a:gdLst/>
            <a:ahLst/>
            <a:cxnLst/>
            <a:rect r="r" b="b" t="t" l="l"/>
            <a:pathLst>
              <a:path h="678722" w="2062415">
                <a:moveTo>
                  <a:pt x="0" y="678722"/>
                </a:moveTo>
                <a:lnTo>
                  <a:pt x="2062414" y="678722"/>
                </a:lnTo>
                <a:lnTo>
                  <a:pt x="2062414" y="0"/>
                </a:lnTo>
                <a:lnTo>
                  <a:pt x="0" y="0"/>
                </a:lnTo>
                <a:lnTo>
                  <a:pt x="0" y="678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188835">
            <a:off x="8286458" y="7110563"/>
            <a:ext cx="1634535" cy="490361"/>
          </a:xfrm>
          <a:custGeom>
            <a:avLst/>
            <a:gdLst/>
            <a:ahLst/>
            <a:cxnLst/>
            <a:rect r="r" b="b" t="t" l="l"/>
            <a:pathLst>
              <a:path h="490361" w="1634535">
                <a:moveTo>
                  <a:pt x="0" y="0"/>
                </a:moveTo>
                <a:lnTo>
                  <a:pt x="1634536" y="0"/>
                </a:lnTo>
                <a:lnTo>
                  <a:pt x="1634536" y="490361"/>
                </a:lnTo>
                <a:lnTo>
                  <a:pt x="0" y="4903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449300" y="8516109"/>
            <a:ext cx="3630348" cy="110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1"/>
              </a:lnSpc>
            </a:pPr>
            <a:r>
              <a:rPr lang="en-US" sz="671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SEGURANÇA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4140" y="2389324"/>
            <a:ext cx="3030111" cy="2705063"/>
          </a:xfrm>
          <a:custGeom>
            <a:avLst/>
            <a:gdLst/>
            <a:ahLst/>
            <a:cxnLst/>
            <a:rect r="r" b="b" t="t" l="l"/>
            <a:pathLst>
              <a:path h="2705063" w="3030111">
                <a:moveTo>
                  <a:pt x="0" y="0"/>
                </a:moveTo>
                <a:lnTo>
                  <a:pt x="3030111" y="0"/>
                </a:lnTo>
                <a:lnTo>
                  <a:pt x="3030111" y="2705063"/>
                </a:lnTo>
                <a:lnTo>
                  <a:pt x="0" y="2705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4215" y="281311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40226" y="2389324"/>
            <a:ext cx="2695226" cy="2705063"/>
          </a:xfrm>
          <a:custGeom>
            <a:avLst/>
            <a:gdLst/>
            <a:ahLst/>
            <a:cxnLst/>
            <a:rect r="r" b="b" t="t" l="l"/>
            <a:pathLst>
              <a:path h="2705063" w="2695226">
                <a:moveTo>
                  <a:pt x="0" y="0"/>
                </a:moveTo>
                <a:lnTo>
                  <a:pt x="2695226" y="0"/>
                </a:lnTo>
                <a:lnTo>
                  <a:pt x="2695226" y="2705063"/>
                </a:lnTo>
                <a:lnTo>
                  <a:pt x="0" y="27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09932" y="6274842"/>
            <a:ext cx="3710405" cy="27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Dra. Verônica atua na gestão pública e precisa de informações em tempo real para responder rapidamente a emergências e melhorar a segurança urbana. Ela procura uma solução que aproveite a infraestrutura de câmeras já instalada, gere dados estatísticos para apoiar decisões e respeite a LGPD, contribuindo para uma cidade mais segura e inteligente com baixo custo de implantação.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24518" y="6274435"/>
            <a:ext cx="4393362" cy="298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Nal é um morador que vive em uma região considerada insegura e busca mais proteção no dia a dia, especialmente por possuir problemas de saúde. Ele sente ansiedade e insegurança ao circular pelas ruas e deseja uma solução que permita acionar rapidamente as autoridades e garantir respostas mais ágeis em situações de emergência. Influenciado por relatos de violência e pela preocupação de familiares, acredita que um monitoramento inteligente pode aumentar sua sensação de segurança e qualidade de vida.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056135" y="-3559748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90412" y="2389324"/>
            <a:ext cx="2705063" cy="2705063"/>
          </a:xfrm>
          <a:custGeom>
            <a:avLst/>
            <a:gdLst/>
            <a:ahLst/>
            <a:cxnLst/>
            <a:rect r="r" b="b" t="t" l="l"/>
            <a:pathLst>
              <a:path h="2705063" w="2705063">
                <a:moveTo>
                  <a:pt x="0" y="0"/>
                </a:moveTo>
                <a:lnTo>
                  <a:pt x="2705063" y="0"/>
                </a:lnTo>
                <a:lnTo>
                  <a:pt x="2705063" y="2705063"/>
                </a:lnTo>
                <a:lnTo>
                  <a:pt x="0" y="27050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23547" y="256432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CLIENTES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0120" y="6398667"/>
            <a:ext cx="3843992" cy="24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Rafael é responsável pela segurança de condomínios e estabelecimentos comerciais. Seu maior desafio é garantir a proteção de pessoas e patrimônios sem sobrecarregar a equipe de vigilância. Ele busca uma solução que reduza falsos alarmes, automatize relatórios e se integre a sistemas já existentes, aumentando a eficiência e justificando os investimentos em segurança.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52772" y="5241924"/>
            <a:ext cx="3070132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Rafael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57049" y="5744210"/>
            <a:ext cx="307013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35 a 50 anos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0068" y="5241924"/>
            <a:ext cx="3070132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Dra. Verônica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84140" y="5744210"/>
            <a:ext cx="307013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40 anos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07878" y="5241924"/>
            <a:ext cx="3070132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07878" y="5744210"/>
            <a:ext cx="307013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60 anos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17143" y="1271841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Segurança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62329" y="1812071"/>
            <a:ext cx="363341" cy="3633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12571" y="4961829"/>
            <a:ext cx="363341" cy="3633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13837" y="4961829"/>
            <a:ext cx="363341" cy="3633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01420" y="4885629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34354" y="4885629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Automação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62329" y="8109012"/>
            <a:ext cx="363341" cy="3633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17143" y="8672378"/>
            <a:ext cx="2853714" cy="4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Desenvolvimento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33880" y="1754921"/>
            <a:ext cx="3236113" cy="61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Nosso sistema e focado nos seguintes aspectos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4354" y="7175770"/>
            <a:ext cx="3853241" cy="93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7"/>
              </a:lnSpc>
            </a:pPr>
            <a:r>
              <a:rPr lang="en-US" sz="640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994241" y="1993741"/>
            <a:ext cx="6299517" cy="629951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7382" y="636471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57650" y="-34720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3964" y="2657475"/>
            <a:ext cx="11635266" cy="10662135"/>
          </a:xfrm>
          <a:custGeom>
            <a:avLst/>
            <a:gdLst/>
            <a:ahLst/>
            <a:cxnLst/>
            <a:rect r="r" b="b" t="t" l="l"/>
            <a:pathLst>
              <a:path h="10662135" w="11635266">
                <a:moveTo>
                  <a:pt x="0" y="0"/>
                </a:moveTo>
                <a:lnTo>
                  <a:pt x="11635266" y="0"/>
                </a:lnTo>
                <a:lnTo>
                  <a:pt x="11635266" y="10662135"/>
                </a:lnTo>
                <a:lnTo>
                  <a:pt x="0" y="10662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02922" y="3454229"/>
            <a:ext cx="4494934" cy="4411405"/>
            <a:chOff x="0" y="0"/>
            <a:chExt cx="1183851" cy="1161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3851" cy="1161852"/>
            </a:xfrm>
            <a:custGeom>
              <a:avLst/>
              <a:gdLst/>
              <a:ahLst/>
              <a:cxnLst/>
              <a:rect r="r" b="b" t="t" l="l"/>
              <a:pathLst>
                <a:path h="1161852" w="1183851">
                  <a:moveTo>
                    <a:pt x="91285" y="0"/>
                  </a:moveTo>
                  <a:lnTo>
                    <a:pt x="1092565" y="0"/>
                  </a:lnTo>
                  <a:cubicBezTo>
                    <a:pt x="1116776" y="0"/>
                    <a:pt x="1139995" y="9618"/>
                    <a:pt x="1157114" y="26737"/>
                  </a:cubicBezTo>
                  <a:cubicBezTo>
                    <a:pt x="1174233" y="43856"/>
                    <a:pt x="1183851" y="67075"/>
                    <a:pt x="1183851" y="91285"/>
                  </a:cubicBezTo>
                  <a:lnTo>
                    <a:pt x="1183851" y="1070566"/>
                  </a:lnTo>
                  <a:cubicBezTo>
                    <a:pt x="1183851" y="1094777"/>
                    <a:pt x="1174233" y="1117995"/>
                    <a:pt x="1157114" y="1135115"/>
                  </a:cubicBezTo>
                  <a:cubicBezTo>
                    <a:pt x="1139995" y="1152234"/>
                    <a:pt x="1116776" y="1161852"/>
                    <a:pt x="1092565" y="1161852"/>
                  </a:cubicBezTo>
                  <a:lnTo>
                    <a:pt x="91285" y="1161852"/>
                  </a:lnTo>
                  <a:cubicBezTo>
                    <a:pt x="67075" y="1161852"/>
                    <a:pt x="43856" y="1152234"/>
                    <a:pt x="26737" y="1135115"/>
                  </a:cubicBezTo>
                  <a:cubicBezTo>
                    <a:pt x="9618" y="1117995"/>
                    <a:pt x="0" y="1094777"/>
                    <a:pt x="0" y="1070566"/>
                  </a:cubicBezTo>
                  <a:lnTo>
                    <a:pt x="0" y="91285"/>
                  </a:lnTo>
                  <a:cubicBezTo>
                    <a:pt x="0" y="67075"/>
                    <a:pt x="9618" y="43856"/>
                    <a:pt x="26737" y="26737"/>
                  </a:cubicBezTo>
                  <a:cubicBezTo>
                    <a:pt x="43856" y="9618"/>
                    <a:pt x="67075" y="0"/>
                    <a:pt x="91285" y="0"/>
                  </a:cubicBezTo>
                  <a:close/>
                </a:path>
              </a:pathLst>
            </a:custGeom>
            <a:solidFill>
              <a:srgbClr val="121212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83851" cy="1228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39634" y="3764917"/>
            <a:ext cx="3804112" cy="3804112"/>
          </a:xfrm>
          <a:custGeom>
            <a:avLst/>
            <a:gdLst/>
            <a:ahLst/>
            <a:cxnLst/>
            <a:rect r="r" b="b" t="t" l="l"/>
            <a:pathLst>
              <a:path h="3804112" w="3804112">
                <a:moveTo>
                  <a:pt x="0" y="0"/>
                </a:moveTo>
                <a:lnTo>
                  <a:pt x="3804112" y="0"/>
                </a:lnTo>
                <a:lnTo>
                  <a:pt x="3804112" y="3804112"/>
                </a:lnTo>
                <a:lnTo>
                  <a:pt x="0" y="380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32779" y="2839635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2779" y="2282190"/>
            <a:ext cx="581782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PARA MAIS INFORMAÇOES, VISITE O SITE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69618" y="5424681"/>
            <a:ext cx="10548764" cy="38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295" u="sng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EMERGENCIAS ACONTECEM EM SEGUNDOS; A RESPOSTA TAMBÉM DEVE ACONTECER.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4950" y="6160443"/>
            <a:ext cx="5318100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69618" y="4311409"/>
            <a:ext cx="10548764" cy="116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3"/>
              </a:lnSpc>
            </a:pPr>
            <a:r>
              <a:rPr lang="en-US" sz="679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MUITO OBRIGADO PELA ATENÇÃO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9233" y="547619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1318" y="158396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0"/>
                </a:moveTo>
                <a:lnTo>
                  <a:pt x="6532692" y="0"/>
                </a:lnTo>
                <a:lnTo>
                  <a:pt x="6532692" y="7879343"/>
                </a:lnTo>
                <a:lnTo>
                  <a:pt x="0" y="7879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9437995" y="5864334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7879343"/>
                </a:moveTo>
                <a:lnTo>
                  <a:pt x="6532692" y="7879343"/>
                </a:lnTo>
                <a:lnTo>
                  <a:pt x="6532692" y="0"/>
                </a:lnTo>
                <a:lnTo>
                  <a:pt x="0" y="0"/>
                </a:lnTo>
                <a:lnTo>
                  <a:pt x="0" y="7879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2635" y="6214885"/>
            <a:ext cx="8151365" cy="3043415"/>
            <a:chOff x="0" y="0"/>
            <a:chExt cx="2146862" cy="8015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6862" cy="801558"/>
            </a:xfrm>
            <a:custGeom>
              <a:avLst/>
              <a:gdLst/>
              <a:ahLst/>
              <a:cxnLst/>
              <a:rect r="r" b="b" t="t" l="l"/>
              <a:pathLst>
                <a:path h="801558" w="2146862">
                  <a:moveTo>
                    <a:pt x="9498" y="0"/>
                  </a:moveTo>
                  <a:lnTo>
                    <a:pt x="2137364" y="0"/>
                  </a:lnTo>
                  <a:cubicBezTo>
                    <a:pt x="2142609" y="0"/>
                    <a:pt x="2146862" y="4252"/>
                    <a:pt x="2146862" y="9498"/>
                  </a:cubicBezTo>
                  <a:lnTo>
                    <a:pt x="2146862" y="792060"/>
                  </a:lnTo>
                  <a:cubicBezTo>
                    <a:pt x="2146862" y="797306"/>
                    <a:pt x="2142609" y="801558"/>
                    <a:pt x="2137364" y="801558"/>
                  </a:cubicBezTo>
                  <a:lnTo>
                    <a:pt x="9498" y="801558"/>
                  </a:lnTo>
                  <a:cubicBezTo>
                    <a:pt x="4252" y="801558"/>
                    <a:pt x="0" y="797306"/>
                    <a:pt x="0" y="792060"/>
                  </a:cubicBezTo>
                  <a:lnTo>
                    <a:pt x="0" y="9498"/>
                  </a:lnTo>
                  <a:cubicBezTo>
                    <a:pt x="0" y="4252"/>
                    <a:pt x="4252" y="0"/>
                    <a:pt x="949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46862" cy="868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13658" y="895350"/>
            <a:ext cx="7083240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REFERENCIA BIBLIGRAFICA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143" y="6483473"/>
            <a:ext cx="7001684" cy="69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769" indent="-143385" lvl="1">
              <a:lnSpc>
                <a:spcPts val="1859"/>
              </a:lnSpc>
              <a:buFont typeface="Arial"/>
              <a:buChar char="•"/>
            </a:pPr>
            <a:r>
              <a:rPr lang="en-US" sz="1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https://www.bemparana.com.br/noticias/parana/samu-parana-recebeu-mais-de-12-milhao-de-chamadas-em-2025-veja-as-principais-ocorrencias/?utm_source=chatgpt.com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143" y="7497485"/>
            <a:ext cx="7001684" cy="23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769" indent="-143385" lvl="1">
              <a:lnSpc>
                <a:spcPts val="1859"/>
              </a:lnSpc>
              <a:buFont typeface="Arial"/>
              <a:buChar char="•"/>
            </a:pPr>
            <a:r>
              <a:rPr lang="en-US" sz="1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https://pubmed.ncbi.nlm.nih.gov/38198335/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143" y="8086383"/>
            <a:ext cx="7001684" cy="69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769" indent="-143385" lvl="1">
              <a:lnSpc>
                <a:spcPts val="1859"/>
              </a:lnSpc>
              <a:buFont typeface="Arial"/>
              <a:buChar char="•"/>
            </a:pPr>
            <a:r>
              <a:rPr lang="en-US" sz="1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https://www.ba.gov.br/seplan/sites/site-seplan/files/2025-07/Anuário%20Brasileiro%20de%20Segurança%20Pública%202024.pdf?utm_source=chatgpt.com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9602" y="3999545"/>
            <a:ext cx="5536172" cy="178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3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Todas as referencias bibliograficas usadas no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DAHNZmpui8o</dc:identifier>
  <dcterms:modified xsi:type="dcterms:W3CDTF">2011-08-01T06:04:30Z</dcterms:modified>
  <cp:revision>1</cp:revision>
  <dc:title>Black and White Modern Tech Company Presentation</dc:title>
</cp:coreProperties>
</file>